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slide" Target="slides/slide6.xml"/><Relationship Id="rId18" Type="http://schemas.openxmlformats.org/officeDocument/2006/relationships/slide" Target="slides/slide11.xml"/><Relationship Id="rId3" Type="http://schemas.openxmlformats.org/officeDocument/2006/relationships/presProps" Target="presProps.xml"/><Relationship Id="rId21" Type="http://schemas.openxmlformats.org/officeDocument/2006/relationships/customXml" Target="../customXml/item1.xml"/><Relationship Id="rId7" Type="http://schemas.openxmlformats.org/officeDocument/2006/relationships/slide" Target="slides/slide1.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printerSettings" Target="printerSettings/printerSettings1.bin"/><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slideMaster" Target="slideMasters/slideMaster1.xml"/><Relationship Id="rId6" Type="http://schemas.openxmlformats.org/officeDocument/2006/relationships/tableStyles" Target="tableStyles.xml"/><Relationship Id="rId11" Type="http://schemas.openxmlformats.org/officeDocument/2006/relationships/slide" Target="slides/slide4.xml"/><Relationship Id="rId5" Type="http://schemas.openxmlformats.org/officeDocument/2006/relationships/theme" Target="theme/theme1.xml"/><Relationship Id="rId15" Type="http://schemas.openxmlformats.org/officeDocument/2006/relationships/slide" Target="slides/slide8.xml"/><Relationship Id="rId23" Type="http://schemas.openxmlformats.org/officeDocument/2006/relationships/customXml" Target="../customXml/item3.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viewProps" Target="viewProps.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Velkommen. Denne presentasjonen forankrer problemforståelsen for kunnskapsforvaltning i helsesektoren -- altså verdikjeden fra forskning til kvalitetssikret helseinformasjon for innbyggere og helsepersonell.</a:t>
            </a:r>
          </a:p>
          <a:p>
            <a:r>
              <a:rPr sz="1100"/>
              <a:t>Formålet er at FHI, Helsedirektoratet, Norsk helsenett og HOD skal ha en felles, evidensbasert beskrivelse av utfordringene før vi diskuterer alternativer.</a:t>
            </a:r>
          </a:p>
          <a:p>
            <a:r>
              <a:rPr sz="1100"/>
              <a:t>Hovedbudskap: dagens verdikjede holder verken tritt med forskningsproduksjonen eller innbyggernes informasjonsbehov, og er ikke rustet til å skalere i krise. Utfordringene henger sammen og kan ikke løses stykkevis.</a:t>
            </a:r>
          </a:p>
          <a:p>
            <a:r>
              <a:rPr sz="1100"/>
              <a:t>Materialet bygger på delrapport 2 (utfordringer og flaskehalser), delrapport 4 (alternativer), delrapport 7 (samlet vurdering) og rolledeling-rapporten. Alle utsagn er merket [DOK] for dokumentert eller [ANT] for analytisk slutning.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Vi starter med selve hovedproblemet i én setning, og pakker det ut i seks dimensjoner. Deretter destillerer vi tre kjerneegenskaper verdikjeden mangler -- skalerbarhet, reaktivitet og sammenheng.</a:t>
            </a:r>
          </a:p>
          <a:p>
            <a:r>
              <a:rPr sz="1100"/>
              <a:t>Etterpå viser vi hvorfor utfordringene forsterker hverandre, hva konsekvensene blir om vi ikke handler, og hvilke seks rotårsaker som ligger bak.</a:t>
            </a:r>
          </a:p>
          <a:p>
            <a:r>
              <a:rPr sz="1100"/>
              <a:t>Til slutt holder vi alternativene fra delrapport 4 opp mot rotårsakene, og lander på veien videre.</a:t>
            </a:r>
          </a:p>
          <a:p>
            <a:r>
              <a:rPr sz="1100"/>
              <a:t>Tidsbruk: ca. 25–30 minutter inkludert dialog. Avbryt gjerne underveis -- formålet er forankring, ikke ensidig presentasjon.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Dette er hovedbudskapet i én setning -- ikke flere. Tre tall illustrerer alvoret:</a:t>
            </a:r>
          </a:p>
          <a:p>
            <a:r>
              <a:rPr sz="1100"/>
              <a:t>7–15+ år: dette er dokumentert i casestudier av antibiotikaresistens, diabetes type 2 og slagbehandling. Det er tiden fra evidensen er tilgjengelig til praksis er bredt endret. [DOK]</a:t>
            </a:r>
          </a:p>
          <a:p>
            <a:r>
              <a:rPr sz="1100"/>
              <a:t>Over 3 millioner artikler årlig: forskningsproduksjonen vokser eksponentielt globalt. FHIs kapasitet for systematiske oversikter vokser ikke tilsvarende. [DOK]</a:t>
            </a:r>
          </a:p>
          <a:p>
            <a:r>
              <a:rPr sz="1100"/>
              <a:t>54 % bruker generativ KI: konsekvensen av at den offentlige verdikjeden er treg, er at innbyggere -- særlig yngre -- går til ChatGPT, Gemini og lignende uten kvalitetssikring. 99 % kjenner Helsenorge, men det hjelper ikke om innholdet oppleves utdatert. [DOK]</a:t>
            </a:r>
          </a:p>
          <a:p>
            <a:r>
              <a:rPr sz="1100"/>
              <a:t>Poenget å forankre: dette er ikke bare et tempoproblem. Det er et legitimitetsproblem for offentlig helseinformasjon.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D1 -- Tid og gjennomløp:
2–3 år til retningslinje er fra delrapport 2 kap. 2. 6–12 måneder til oppdatert innbyggerinformasjon er en analytisk slutning [ANT] fra observert tid mellom retningslinjepublisering og oppdatering på helsenorge.no -- her er det et erkjent kunnskapshull som bør lukkes empirisk.
7–15+ år: casestudier dokumenterer dette for antibiotikaresistens (lang tid før penicillin-V som førstevalg ble bredt etterlevd), diabetes type 2 (SGLT2-hemmere), og slagbehandling (trombektomi). [DOK]
8 år fra evidens til forhåndsgodkjent refusjon er fra diabetes-casen.</a:t>
            </a:r>
          </a:p>
          <a:p>
            <a:r>
              <a:rPr sz="1100"/>
              <a:t>D2 -- Kapasitet og volum:
3 millioner artikler er det globale tallet -- ikke alt er relevant for norsk praksis, men relevant andel vokser også eksponentielt. FHI har ikke ressurser til å holde tritt med systematiske oversikter på alle felt.
Sitatet fra Hdirs årsrapport 2024 er viktig: dette er ikke en ekstern påstand, men en intern erkjennelse av kapasitetsgapet. [DOK]</a:t>
            </a:r>
          </a:p>
          <a:p>
            <a:r>
              <a:rPr sz="1100"/>
              <a:t>Forankringspoeng: D1 og D2 er der hvor KI-støtte mest direkte kan gi tidsgevinster. Men teknisk støtte løser ikke alene styrings- og insentivproblemene som kommer i D3 og D4.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D3 -- Struktur og styring:
Tallet ~20 aktører kommer fra rolledeling-rapporten kap. 5 og dekker FHI, Hdir, NHN, RHF-ene, KS, kommunene, fagmiljøer, brukerorganisasjoner og leverandører. Ingen har et helhetlig mandat for hele verdikjeden -- hver eier sin bit. [DOK]
Fragmenteringen i IT-systemer og kodeverk er dokumentert i flere kilder, og er en del av rotårsak R4.
Fritekst uten metadata: dagens retningslinjer publiseres som tekst (PDF/HTML) uten strukturerte metadata. Det hindrer automatisert sporbarhet, gjenbruk og kobling mellom kilder. [DOK]</a:t>
            </a:r>
          </a:p>
          <a:p>
            <a:r>
              <a:rPr sz="1100"/>
              <a:t>D4 -- Implementering og insentiver:
«Ingen aktør eier implementeringsgapet» betyr at gapet mellom publisert retningslinje og faktisk klinisk praksis ikke har en tydelig eier i verdikjeden. Dette er rotårsak R5.
Refusjonsbeslutninger (Beslutningsforum, Nye Metoder) ligger separat fra retningslinjearbeidet -- en pasient kan dermed møte en retningslinje som anbefaler en behandling som ikke er forhåndsgodkjent for refusjon, eller omvendt. [DOK, diabetes-casen]
Etterlevelse: data finnes (helseregistre, kvalitetsregistre), men brukes ikke systematisk som tilbakekobling til kunnskapsforvaltningen. Dette er rotårsak R6.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D5 -- Tillit og innbyggerbehov:
99 % kjenner Helsenorge -- en sterk merkevare. Men 54 % av befolkningen bruker generativ KI til ulike formål, og bruken til helseinformasjon er voksende, særlig blant yngre. [DOK, kilder fra delrapport 2]
Helsenorges innhold er i stor grad generisk og lite tilpasset livssituasjon, lesenivå, språk eller funksjonsnivå. Sårbare grupper rammes hardest. [DOK]
Forankringspoeng: dette er ikke et marketing-problem -- det er at innholdets form og oppdateringstempo ikke passer dagens informasjonsadferd.</a:t>
            </a:r>
          </a:p>
          <a:p>
            <a:r>
              <a:rPr sz="1100"/>
              <a:t>D6 -- Beredskap:
COVID-19 viste at hele verdikjeden måtte improvisere: hurtigprosesser for retningslinjer, ad hoc oversettelser, manuelt oppdatert helsenorge.no. Det fungerte under presset, men det er ikke skalerbart eller etterprøvbart. [DOK]
Antakelsen [ANT] er at neste krise -- pandemi, antibiotikaresistens, klimarelaterte helsekriser -- vil kreve samme improvisasjon med mindre strukturelle grep gjøres nå.</a:t>
            </a:r>
          </a:p>
          <a:p>
            <a:r>
              <a:rPr sz="1100"/>
              <a:t>Sammenkobling: D5 og D6 er begge tillitsdimensjoner. Tillit bygges over tid og tapes raskt.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Dette er destillatet av de seks dimensjonene. Hvis vi destillerer enda hardere ned til tre, er det disse egenskapene som mangler:</a:t>
            </a:r>
          </a:p>
          <a:p>
            <a:r>
              <a:rPr sz="1100"/>
              <a:t>Skalerbarhet -- handler om at kapasitet og volum ikke følger hverandre. Dette er hva KI-støtte mest direkte kan adressere, fordi maskiner kan skalere arbeid som ikke krever menneskelig dømmekraft (screening, strukturering, oversetting).</a:t>
            </a:r>
          </a:p>
          <a:p>
            <a:r>
              <a:rPr sz="1100"/>
              <a:t>Reaktivitet -- handler om at fra evidens er publisert til praksis er endret går det år. I en krise har vi ikke år. Dette krever både teknisk støtte (raskere syntese) og organisatoriske grep (fast-track-prosesser).</a:t>
            </a:r>
          </a:p>
          <a:p>
            <a:r>
              <a:rPr sz="1100"/>
              <a:t>Sammenheng -- handler om at hver aktør gjør sin bit, men kjeden er ikke designet som én. Dette er den vanskeligste å fikse fordi den krever endringer i mandater, eierskap og teknisk integrasjon på tvers.</a:t>
            </a:r>
          </a:p>
          <a:p>
            <a:r>
              <a:rPr sz="1100"/>
              <a:t>Forankringspoeng: når vi snakker om alternativer i delrapport 4, må vi vurdere hvert alternativ mot alle tre egenskapene -- ikke bare den første.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Tre poenger som forklarer hvorfor utfordringene ikke kan løses stykkevis:</a:t>
            </a:r>
          </a:p>
          <a:p>
            <a:r>
              <a:rPr sz="1100"/>
              <a:t>1) Forsterker hverandre: relasjonstabellen i delrapport 2 viser at flere flaskehalser forårsaker eller forsterker andre. Eksempel: lang gjennomløpstid (D1) forsterker at innbyggere går til kommersielle KI-tjenester (D5), som igjen svekker tilliten til offentlig informasjon. [DOK]</a:t>
            </a:r>
          </a:p>
          <a:p>
            <a:r>
              <a:rPr sz="1100"/>
              <a:t>2) Krever teknologi + organisasjon: rotårsaksanalysen identifiserer seks rotårsaker. R2 (verdikjede designet for pre-digital tid), R3 (kapasitet skalerer ikke), R4 (fragmentert IT) og R6 (manglende feedback-mekanismer) er teknisk-prosessuelle og kan langt på vei adresseres av KI-støtte og digitalisering. R1 (manglende styringsmandat) og R5 (manglende eierskap for implementering) er derimot organisatorisk-politiske. Et rent KI-program treffer ikke disse.</a:t>
            </a:r>
          </a:p>
          <a:p>
            <a:r>
              <a:rPr sz="1100"/>
              <a:t>3) Selvforsterkende konsekvens: dette er sentralt for forankringen. Hvis vi venter, så vokser kunnskapsgapet, kommersielle KI-tjenester befester sin posisjon, og tilliten eroderer. Hver av disse gjør det vanskeligere å gjenvinne. Dette er ikke et problem som «løser seg selv». [ANT, men understøttet av observerte trender]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Fire konsekvenser hvis dagens praksis videreføres -- altså null-alternativet i delrapport 4:</a:t>
            </a:r>
          </a:p>
          <a:p>
            <a:r>
              <a:rPr sz="1100"/>
              <a:t>Kunnskapsgapet øker: forskningsproduksjonen vokser eksponentielt. Dagens kapasitet i FHI og Hdir er tilnærmet konstant. Differansen er det som ikke når inn i verdikjeden. [DOK]</a:t>
            </a:r>
          </a:p>
          <a:p>
            <a:r>
              <a:rPr sz="1100"/>
              <a:t>Kommersiell KI tar over: dette er allerede pågående -- 54 %-tallet er ikke en prognose, det er nå. Risikoen er at offentlig sektor mister rollen som kvalitetssikret kilde. [DOK]</a:t>
            </a:r>
          </a:p>
          <a:p>
            <a:r>
              <a:rPr sz="1100"/>
              <a:t>Regulatorisk etterslep: EHDS-forordningen (gjeldende fra 2026) og EU AI Act stiller krav til strukturerte data, sporbarhet og dokumentasjon som dagens fritekst-baserte verdikjede ikke kan oppfylle uten omfattende endringer. [DOK]</a:t>
            </a:r>
          </a:p>
          <a:p>
            <a:r>
              <a:rPr sz="1100"/>
              <a:t>Tillitserosjon: når innbyggere eller helsepersonell møter utdatert offentlig informasjon, undergraves tilliten generelt -- ikke bare til den ene tjenesten. Dette er den langsiktige strategiske risikoen. [ANT, men understøttet]</a:t>
            </a:r>
          </a:p>
          <a:p>
            <a:r>
              <a:rPr sz="1100"/>
              <a:t>Tidshorisont 3–5 år: dette er fra delrapport 7 kap. 4.3, og angir når konsekvensene blir så markante at korreksjon blir vesentlig dyrere.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Seks rotårsaker, dokumentert i delrapport 2 kap. 9 og rolledeling-rapporten kap. 5.</a:t>
            </a:r>
          </a:p>
          <a:p>
            <a:r>
              <a:rPr sz="1100"/>
              <a:t>Kategorisering -- ORG (organisatorisk-politisk) vs. TEK (teknisk-prosessuell) -- er den viktige distinksjonen for forankringen:</a:t>
            </a:r>
          </a:p>
          <a:p>
            <a:r>
              <a:rPr sz="1100"/>
              <a:t>R1 ORG -- Manglende helhetlig styringsmandat. Ingen aktør har mandat for hele verdikjeden. Krever lov, forskrift eller forsterket styringsdialog -- det kan ikke teknologi løse.</a:t>
            </a:r>
          </a:p>
          <a:p>
            <a:r>
              <a:rPr sz="1100"/>
              <a:t>R2 TEK -- Verdikjede designet for pre-digital tid: prosessene forutsetter manuell screening, fritekst og papirlogikk.</a:t>
            </a:r>
          </a:p>
          <a:p>
            <a:r>
              <a:rPr sz="1100"/>
              <a:t>R3 TEK -- Kapasitet skalerer ikke: lineær ressursvekst mot eksponentiell forskningsvekst.</a:t>
            </a:r>
          </a:p>
          <a:p>
            <a:r>
              <a:rPr sz="1100"/>
              <a:t>R4 TEK -- Fragmentert IT og kodeverk: hindrer maskinell sammenkobling og automatisering.</a:t>
            </a:r>
          </a:p>
          <a:p>
            <a:r>
              <a:rPr sz="1100"/>
              <a:t>R5 ORG -- Manglende insentiver og eierskap for implementering: ingen blir målt på om praksis faktisk endres etter at retningslinjen er publisert.</a:t>
            </a:r>
          </a:p>
          <a:p>
            <a:r>
              <a:rPr sz="1100"/>
              <a:t>R6 TEK -- Manglende feedback- og målemekanismer: vi vet ikke systematisk om kunnskapsforvaltningen virker.</a:t>
            </a:r>
          </a:p>
          <a:p>
            <a:r>
              <a:rPr sz="1100"/>
              <a:t>Forankringspoeng for neste lysark: et rent teknologiprogram (KI-støtte) treffer R2, R3, R4 og R6, men ikke R1 og R5. Dette må forankres -- ellers kommer vi til å oppdage at de teknisk-prosessuelle gevinstene ikke realiseres fordi mandat- og insentivstrukturene står i veien.</a:t>
            </a:r>
          </a:p>
          <a:p>
            <a:r>
              <a:rPr sz="1100"/>
              <a:t>Alle utsagn er merket [DOK] eller [ANT] i underliggende rapporter.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Hovedbudskap: alternativene i delrapport 4 er primært målt på tid og kostnad. Når vi måler dem på dekning av rotårsaker, ser vi en blindsone.</a:t>
            </a:r>
          </a:p>
          <a:p>
            <a:r>
              <a:rPr sz="1100"/>
              <a:t>Tabellen viser:
- Null-alternativet dekker ingen rotårsaker (per definisjon -- det er status quo).
- Alt. 1 (KI-støttet manuell): delvis dekning av R2, R3, R4, R6 -- altså de teknisk-prosessuelle.
- Alt. 2 (Hybrid med strukturerte data): god dekning av R2, R3, R4, R6.
- Alt. 3 (Full automatisering): god dekning av R2, R3, R4, R6.
- R1 og R5 -- ingen av alternativene dekker disse. Dette er dokumentert i delrapport 4 kap. 6.1 og delrapport 7 kap. 5.4.</a:t>
            </a:r>
          </a:p>
          <a:p>
            <a:r>
              <a:rPr sz="1100"/>
              <a:t>Implikasjon for forankring:
Selv det mest ambisiøse teknologialternativet (alt. 3) løser ikke styringsmandat- og insentivproblemene. Det krever parallelle organisatoriske tiltak:
1) Forum for faglig normering (jf. Røttingen-utvalget kap. 11.9)
2) Lovfesting av oppgavedeling FHI / Hdir / NHN
3) Samordning av retningslinje- og refusjonsbeslutninger</a:t>
            </a:r>
          </a:p>
          <a:p>
            <a:r>
              <a:rPr sz="1100"/>
              <a:t>Hvis disse ikke gjøres parallelt, risikerer vi at de tekniske gevinstene ikke realiseres fordi organisatorisk friksjon spiser dem opp.</a:t>
            </a:r>
          </a:p>
          <a:p>
            <a:r>
              <a:rPr sz="1100"/>
              <a:t>Alle utsagn er merket [DOK] / [ANT] i delrapport 4 og 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Fem konkrete neste steg, i prioritert rekkefølge:</a:t>
            </a:r>
          </a:p>
          <a:p>
            <a:r>
              <a:rPr sz="1100"/>
              <a:t>1) Forankre utfordringsbildet på tvers av FHI, Hdir, NHN og HOD. Dette er forutsetning for alle senere beslutninger. Hvis det ikke er enighet om problemet, vil ikke noe alternativ få nødvendig støtte.</a:t>
            </a:r>
          </a:p>
          <a:p>
            <a:r>
              <a:rPr sz="1100"/>
              <a:t>2) Vurdere alternativene mot full rotårsaksdekning. Delrapport 4 har en god kost/nytte-analyse, men den vekter ikke organisatoriske rotårsaker. Et utvidet beslutningsgrunnlag bør inkludere R1 og R5 eksplisitt.</a:t>
            </a:r>
          </a:p>
          <a:p>
            <a:r>
              <a:rPr sz="1100"/>
              <a:t>3) Iverksette parallelle organisatoriske tiltak for R1 og R5 -- forum for faglig normering, lovfesting av oppgavedeling, samordning av retningslinje- og refusjonsbeslutninger. Disse må startes nå, ikke etter at teknologivalget er gjort.</a:t>
            </a:r>
          </a:p>
          <a:p>
            <a:r>
              <a:rPr sz="1100"/>
              <a:t>4) Lukke kunnskapshull. Spesielt: faktisk forsinkelse retningslinje → helsenorge.no (empirisk måling), klinikeres faktiske kildevalg, og omfanget av kommersiell KI-bruk i helserelaterte spørsmål. Dette er bestillinger som kan gå ut nå.</a:t>
            </a:r>
          </a:p>
          <a:p>
            <a:r>
              <a:rPr sz="1100"/>
              <a:t>5) Beslutte faseinndelt innføring -- alt. 2 først, deretter alt. 3, med organisatoriske grep parallelt. Dette gir læring og reduserer risiko, samtidig som det ikke utsetter handling.</a:t>
            </a:r>
          </a:p>
          <a:p>
            <a:r>
              <a:rPr sz="1100"/>
              <a:t>Beslutningspunkter etter denne presentasjonen:
- Er problemforståelsen forankret? (Ja/nei/forbehold)
- Er prinsippet om parallelle tekniske + organisatoriske tiltak akseptert?
- Hvem eier de fem stegene, og når rapporteres det tilbake?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Kilder og videre lesing.</a:t>
            </a:r>
          </a:p>
          <a:p>
            <a:r>
              <a:rPr sz="1100"/>
              <a:t>Hovedreferansene:
- Delrapport 2: detaljert gjennomgang av utfordringer, flaskehalser og rotårsaker.
- Delrapport 4: alternativene 1–3 og null-alternativet, kost/nytte.
- Delrapport 7: samlet vurdering på tvers av delrapportene.
- Rolledeling i sentral helseforvaltning: aktørkartet og mandatfordelingen.</a:t>
            </a:r>
          </a:p>
          <a:p>
            <a:r>
              <a:rPr sz="1100"/>
              <a:t>Casestudiene er sentrale for å konkretisere tidstall:
- Antibiotika: forsinket overgang til penicillin-V som førstevalg.
- Diabetes type 2: 8 år fra evidens til forhåndsgodkjent refusjon for SGLT2-hemmere.
- Slagbehandling: lang vei fra evidens til bred bruk av trombektomi.</a:t>
            </a:r>
          </a:p>
          <a:p>
            <a:r>
              <a:rPr sz="1100"/>
              <a:t>Visualiseringen utfordringer-relasjoner.html viser kausalgrafen mellom flaskehalsene -- nyttig som referanseverktøy under diskusjonen.</a:t>
            </a:r>
          </a:p>
          <a:p>
            <a:r>
              <a:rPr sz="1100"/>
              <a:t>Sporbarhetspraksis: alle utsagn er merket [DOK] eller [ANT] i de underliggende rapportene. Dette gjør det enkelt å skille mellom dokumenterte funn og analytiske slutninger som kan utfordres.</a:t>
            </a:r>
          </a:p>
          <a:p>
            <a:r>
              <a:rPr sz="1100"/>
              <a:t>Spørsmål etter presentasjonen kan rettes til prosjektgruppen i Helsedirektoratet.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194560"/>
            <a:ext cx="1097280" cy="73152"/>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377440"/>
            <a:ext cx="10972800" cy="1280160"/>
          </a:xfrm>
          <a:prstGeom prst="rect">
            <a:avLst/>
          </a:prstGeom>
          <a:noFill/>
        </p:spPr>
        <p:txBody>
          <a:bodyPr wrap="square" lIns="0" rIns="0" tIns="0" bIns="0" anchor="t">
            <a:spAutoFit/>
          </a:bodyPr>
          <a:lstStyle/>
          <a:p>
            <a:pPr algn="l"/>
            <a:r>
              <a:rPr sz="4800" b="1">
                <a:solidFill>
                  <a:srgbClr val="FFFFFF"/>
                </a:solidFill>
                <a:latin typeface="Calibri"/>
              </a:rPr>
              <a:t>Utfordringsbildet for</a:t>
            </a:r>
          </a:p>
          <a:p>
            <a:pPr algn="l"/>
            <a:r>
              <a:rPr sz="4800" b="1">
                <a:solidFill>
                  <a:srgbClr val="FFFFFF"/>
                </a:solidFill>
                <a:latin typeface="Calibri"/>
              </a:rPr>
              <a:t>kunnskapsforvaltning</a:t>
            </a:r>
          </a:p>
        </p:txBody>
      </p:sp>
      <p:sp>
        <p:nvSpPr>
          <p:cNvPr id="5" name="TextBox 4"/>
          <p:cNvSpPr txBox="1"/>
          <p:nvPr/>
        </p:nvSpPr>
        <p:spPr>
          <a:xfrm>
            <a:off x="548640" y="4023360"/>
            <a:ext cx="10972800" cy="548640"/>
          </a:xfrm>
          <a:prstGeom prst="rect">
            <a:avLst/>
          </a:prstGeom>
          <a:noFill/>
        </p:spPr>
        <p:txBody>
          <a:bodyPr wrap="square" lIns="0" rIns="0" tIns="0" bIns="0" anchor="t">
            <a:spAutoFit/>
          </a:bodyPr>
          <a:lstStyle/>
          <a:p>
            <a:pPr algn="l"/>
            <a:r>
              <a:rPr sz="2400" b="0">
                <a:solidFill>
                  <a:srgbClr val="FFFFFF"/>
                </a:solidFill>
                <a:latin typeface="Calibri"/>
              </a:rPr>
              <a:t>Forankring av problemforståelse</a:t>
            </a:r>
          </a:p>
        </p:txBody>
      </p:sp>
      <p:sp>
        <p:nvSpPr>
          <p:cNvPr id="6" name="TextBox 5"/>
          <p:cNvSpPr txBox="1"/>
          <p:nvPr/>
        </p:nvSpPr>
        <p:spPr>
          <a:xfrm>
            <a:off x="548640" y="6035040"/>
            <a:ext cx="10972800" cy="365760"/>
          </a:xfrm>
          <a:prstGeom prst="rect">
            <a:avLst/>
          </a:prstGeom>
          <a:noFill/>
        </p:spPr>
        <p:txBody>
          <a:bodyPr wrap="square" lIns="0" rIns="0" tIns="0" bIns="0" anchor="t">
            <a:spAutoFit/>
          </a:bodyPr>
          <a:lstStyle/>
          <a:p>
            <a:pPr algn="l"/>
            <a:r>
              <a:rPr sz="1200" b="0">
                <a:solidFill>
                  <a:srgbClr val="FFFFFF"/>
                </a:solidFill>
                <a:latin typeface="Calibri"/>
              </a:rPr>
              <a:t>Helsedirektoratet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AGENDA</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Det vi skal gå gjennom</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94560"/>
            <a:ext cx="731520" cy="640080"/>
          </a:xfrm>
          <a:prstGeom prst="rect">
            <a:avLst/>
          </a:prstGeom>
          <a:noFill/>
        </p:spPr>
        <p:txBody>
          <a:bodyPr wrap="square" lIns="0" rIns="0" tIns="0" bIns="0" anchor="t">
            <a:spAutoFit/>
          </a:bodyPr>
          <a:lstStyle/>
          <a:p>
            <a:pPr algn="l"/>
            <a:r>
              <a:rPr sz="3200" b="1">
                <a:solidFill>
                  <a:srgbClr val="C93636"/>
                </a:solidFill>
                <a:latin typeface="Calibri"/>
              </a:rPr>
              <a:t>01</a:t>
            </a:r>
          </a:p>
        </p:txBody>
      </p:sp>
      <p:sp>
        <p:nvSpPr>
          <p:cNvPr id="8" name="TextBox 7"/>
          <p:cNvSpPr txBox="1"/>
          <p:nvPr/>
        </p:nvSpPr>
        <p:spPr>
          <a:xfrm>
            <a:off x="1371600" y="2286000"/>
            <a:ext cx="4754880" cy="548640"/>
          </a:xfrm>
          <a:prstGeom prst="rect">
            <a:avLst/>
          </a:prstGeom>
          <a:noFill/>
        </p:spPr>
        <p:txBody>
          <a:bodyPr wrap="square" lIns="0" rIns="0" tIns="0" bIns="0" anchor="t">
            <a:spAutoFit/>
          </a:bodyPr>
          <a:lstStyle/>
          <a:p>
            <a:pPr algn="l"/>
            <a:r>
              <a:rPr sz="1800" b="1">
                <a:solidFill>
                  <a:srgbClr val="1F2A37"/>
                </a:solidFill>
                <a:latin typeface="Calibri"/>
              </a:rPr>
              <a:t>Hovedproblemet</a:t>
            </a:r>
          </a:p>
        </p:txBody>
      </p:sp>
      <p:sp>
        <p:nvSpPr>
          <p:cNvPr id="9" name="TextBox 8"/>
          <p:cNvSpPr txBox="1"/>
          <p:nvPr/>
        </p:nvSpPr>
        <p:spPr>
          <a:xfrm>
            <a:off x="548640" y="3154680"/>
            <a:ext cx="731520" cy="640080"/>
          </a:xfrm>
          <a:prstGeom prst="rect">
            <a:avLst/>
          </a:prstGeom>
          <a:noFill/>
        </p:spPr>
        <p:txBody>
          <a:bodyPr wrap="square" lIns="0" rIns="0" tIns="0" bIns="0" anchor="t">
            <a:spAutoFit/>
          </a:bodyPr>
          <a:lstStyle/>
          <a:p>
            <a:pPr algn="l"/>
            <a:r>
              <a:rPr sz="3200" b="1">
                <a:solidFill>
                  <a:srgbClr val="C93636"/>
                </a:solidFill>
                <a:latin typeface="Calibri"/>
              </a:rPr>
              <a:t>02</a:t>
            </a:r>
          </a:p>
        </p:txBody>
      </p:sp>
      <p:sp>
        <p:nvSpPr>
          <p:cNvPr id="10" name="TextBox 9"/>
          <p:cNvSpPr txBox="1"/>
          <p:nvPr/>
        </p:nvSpPr>
        <p:spPr>
          <a:xfrm>
            <a:off x="1371600" y="3246120"/>
            <a:ext cx="4754880" cy="548640"/>
          </a:xfrm>
          <a:prstGeom prst="rect">
            <a:avLst/>
          </a:prstGeom>
          <a:noFill/>
        </p:spPr>
        <p:txBody>
          <a:bodyPr wrap="square" lIns="0" rIns="0" tIns="0" bIns="0" anchor="t">
            <a:spAutoFit/>
          </a:bodyPr>
          <a:lstStyle/>
          <a:p>
            <a:pPr algn="l"/>
            <a:r>
              <a:rPr sz="1800" b="1">
                <a:solidFill>
                  <a:srgbClr val="1F2A37"/>
                </a:solidFill>
                <a:latin typeface="Calibri"/>
              </a:rPr>
              <a:t>Seks dimensjoner</a:t>
            </a:r>
          </a:p>
        </p:txBody>
      </p:sp>
      <p:sp>
        <p:nvSpPr>
          <p:cNvPr id="11" name="TextBox 10"/>
          <p:cNvSpPr txBox="1"/>
          <p:nvPr/>
        </p:nvSpPr>
        <p:spPr>
          <a:xfrm>
            <a:off x="548640" y="4114800"/>
            <a:ext cx="731520" cy="640080"/>
          </a:xfrm>
          <a:prstGeom prst="rect">
            <a:avLst/>
          </a:prstGeom>
          <a:noFill/>
        </p:spPr>
        <p:txBody>
          <a:bodyPr wrap="square" lIns="0" rIns="0" tIns="0" bIns="0" anchor="t">
            <a:spAutoFit/>
          </a:bodyPr>
          <a:lstStyle/>
          <a:p>
            <a:pPr algn="l"/>
            <a:r>
              <a:rPr sz="3200" b="1">
                <a:solidFill>
                  <a:srgbClr val="C93636"/>
                </a:solidFill>
                <a:latin typeface="Calibri"/>
              </a:rPr>
              <a:t>03</a:t>
            </a:r>
          </a:p>
        </p:txBody>
      </p:sp>
      <p:sp>
        <p:nvSpPr>
          <p:cNvPr id="12" name="TextBox 11"/>
          <p:cNvSpPr txBox="1"/>
          <p:nvPr/>
        </p:nvSpPr>
        <p:spPr>
          <a:xfrm>
            <a:off x="1371600" y="4206240"/>
            <a:ext cx="4754880" cy="548640"/>
          </a:xfrm>
          <a:prstGeom prst="rect">
            <a:avLst/>
          </a:prstGeom>
          <a:noFill/>
        </p:spPr>
        <p:txBody>
          <a:bodyPr wrap="square" lIns="0" rIns="0" tIns="0" bIns="0" anchor="t">
            <a:spAutoFit/>
          </a:bodyPr>
          <a:lstStyle/>
          <a:p>
            <a:pPr algn="l"/>
            <a:r>
              <a:rPr sz="1800" b="1">
                <a:solidFill>
                  <a:srgbClr val="1F2A37"/>
                </a:solidFill>
                <a:latin typeface="Calibri"/>
              </a:rPr>
              <a:t>Tre kjerneegenskaper som mangler</a:t>
            </a:r>
          </a:p>
        </p:txBody>
      </p:sp>
      <p:sp>
        <p:nvSpPr>
          <p:cNvPr id="13" name="TextBox 12"/>
          <p:cNvSpPr txBox="1"/>
          <p:nvPr/>
        </p:nvSpPr>
        <p:spPr>
          <a:xfrm>
            <a:off x="548640" y="5074920"/>
            <a:ext cx="731520" cy="640080"/>
          </a:xfrm>
          <a:prstGeom prst="rect">
            <a:avLst/>
          </a:prstGeom>
          <a:noFill/>
        </p:spPr>
        <p:txBody>
          <a:bodyPr wrap="square" lIns="0" rIns="0" tIns="0" bIns="0" anchor="t">
            <a:spAutoFit/>
          </a:bodyPr>
          <a:lstStyle/>
          <a:p>
            <a:pPr algn="l"/>
            <a:r>
              <a:rPr sz="3200" b="1">
                <a:solidFill>
                  <a:srgbClr val="C93636"/>
                </a:solidFill>
                <a:latin typeface="Calibri"/>
              </a:rPr>
              <a:t>04</a:t>
            </a:r>
          </a:p>
        </p:txBody>
      </p:sp>
      <p:sp>
        <p:nvSpPr>
          <p:cNvPr id="14" name="TextBox 13"/>
          <p:cNvSpPr txBox="1"/>
          <p:nvPr/>
        </p:nvSpPr>
        <p:spPr>
          <a:xfrm>
            <a:off x="1371600" y="5166360"/>
            <a:ext cx="4754880" cy="548640"/>
          </a:xfrm>
          <a:prstGeom prst="rect">
            <a:avLst/>
          </a:prstGeom>
          <a:noFill/>
        </p:spPr>
        <p:txBody>
          <a:bodyPr wrap="square" lIns="0" rIns="0" tIns="0" bIns="0" anchor="t">
            <a:spAutoFit/>
          </a:bodyPr>
          <a:lstStyle/>
          <a:p>
            <a:pPr algn="l"/>
            <a:r>
              <a:rPr sz="1800" b="1">
                <a:solidFill>
                  <a:srgbClr val="1F2A37"/>
                </a:solidFill>
                <a:latin typeface="Calibri"/>
              </a:rPr>
              <a:t>Hvorfor utfordringene må sees samlet</a:t>
            </a:r>
          </a:p>
        </p:txBody>
      </p:sp>
      <p:sp>
        <p:nvSpPr>
          <p:cNvPr id="15" name="TextBox 14"/>
          <p:cNvSpPr txBox="1"/>
          <p:nvPr/>
        </p:nvSpPr>
        <p:spPr>
          <a:xfrm>
            <a:off x="6400800" y="2194560"/>
            <a:ext cx="731520" cy="640080"/>
          </a:xfrm>
          <a:prstGeom prst="rect">
            <a:avLst/>
          </a:prstGeom>
          <a:noFill/>
        </p:spPr>
        <p:txBody>
          <a:bodyPr wrap="square" lIns="0" rIns="0" tIns="0" bIns="0" anchor="t">
            <a:spAutoFit/>
          </a:bodyPr>
          <a:lstStyle/>
          <a:p>
            <a:pPr algn="l"/>
            <a:r>
              <a:rPr sz="3200" b="1">
                <a:solidFill>
                  <a:srgbClr val="C93636"/>
                </a:solidFill>
                <a:latin typeface="Calibri"/>
              </a:rPr>
              <a:t>05</a:t>
            </a:r>
          </a:p>
        </p:txBody>
      </p:sp>
      <p:sp>
        <p:nvSpPr>
          <p:cNvPr id="16" name="TextBox 15"/>
          <p:cNvSpPr txBox="1"/>
          <p:nvPr/>
        </p:nvSpPr>
        <p:spPr>
          <a:xfrm>
            <a:off x="7223760" y="2286000"/>
            <a:ext cx="4754880" cy="548640"/>
          </a:xfrm>
          <a:prstGeom prst="rect">
            <a:avLst/>
          </a:prstGeom>
          <a:noFill/>
        </p:spPr>
        <p:txBody>
          <a:bodyPr wrap="square" lIns="0" rIns="0" tIns="0" bIns="0" anchor="t">
            <a:spAutoFit/>
          </a:bodyPr>
          <a:lstStyle/>
          <a:p>
            <a:pPr algn="l"/>
            <a:r>
              <a:rPr sz="1800" b="1">
                <a:solidFill>
                  <a:srgbClr val="1F2A37"/>
                </a:solidFill>
                <a:latin typeface="Calibri"/>
              </a:rPr>
              <a:t>Konsekvenser av å ikke handle</a:t>
            </a:r>
          </a:p>
        </p:txBody>
      </p:sp>
      <p:sp>
        <p:nvSpPr>
          <p:cNvPr id="17" name="TextBox 16"/>
          <p:cNvSpPr txBox="1"/>
          <p:nvPr/>
        </p:nvSpPr>
        <p:spPr>
          <a:xfrm>
            <a:off x="6400800" y="3154680"/>
            <a:ext cx="731520" cy="640080"/>
          </a:xfrm>
          <a:prstGeom prst="rect">
            <a:avLst/>
          </a:prstGeom>
          <a:noFill/>
        </p:spPr>
        <p:txBody>
          <a:bodyPr wrap="square" lIns="0" rIns="0" tIns="0" bIns="0" anchor="t">
            <a:spAutoFit/>
          </a:bodyPr>
          <a:lstStyle/>
          <a:p>
            <a:pPr algn="l"/>
            <a:r>
              <a:rPr sz="3200" b="1">
                <a:solidFill>
                  <a:srgbClr val="C93636"/>
                </a:solidFill>
                <a:latin typeface="Calibri"/>
              </a:rPr>
              <a:t>06</a:t>
            </a:r>
          </a:p>
        </p:txBody>
      </p:sp>
      <p:sp>
        <p:nvSpPr>
          <p:cNvPr id="18" name="TextBox 17"/>
          <p:cNvSpPr txBox="1"/>
          <p:nvPr/>
        </p:nvSpPr>
        <p:spPr>
          <a:xfrm>
            <a:off x="7223760" y="3246120"/>
            <a:ext cx="4754880" cy="548640"/>
          </a:xfrm>
          <a:prstGeom prst="rect">
            <a:avLst/>
          </a:prstGeom>
          <a:noFill/>
        </p:spPr>
        <p:txBody>
          <a:bodyPr wrap="square" lIns="0" rIns="0" tIns="0" bIns="0" anchor="t">
            <a:spAutoFit/>
          </a:bodyPr>
          <a:lstStyle/>
          <a:p>
            <a:pPr algn="l"/>
            <a:r>
              <a:rPr sz="1800" b="1">
                <a:solidFill>
                  <a:srgbClr val="1F2A37"/>
                </a:solidFill>
                <a:latin typeface="Calibri"/>
              </a:rPr>
              <a:t>Rotårsaker R1–R6</a:t>
            </a:r>
          </a:p>
        </p:txBody>
      </p:sp>
      <p:sp>
        <p:nvSpPr>
          <p:cNvPr id="19" name="TextBox 18"/>
          <p:cNvSpPr txBox="1"/>
          <p:nvPr/>
        </p:nvSpPr>
        <p:spPr>
          <a:xfrm>
            <a:off x="6400800" y="4114800"/>
            <a:ext cx="731520" cy="640080"/>
          </a:xfrm>
          <a:prstGeom prst="rect">
            <a:avLst/>
          </a:prstGeom>
          <a:noFill/>
        </p:spPr>
        <p:txBody>
          <a:bodyPr wrap="square" lIns="0" rIns="0" tIns="0" bIns="0" anchor="t">
            <a:spAutoFit/>
          </a:bodyPr>
          <a:lstStyle/>
          <a:p>
            <a:pPr algn="l"/>
            <a:r>
              <a:rPr sz="3200" b="1">
                <a:solidFill>
                  <a:srgbClr val="C93636"/>
                </a:solidFill>
                <a:latin typeface="Calibri"/>
              </a:rPr>
              <a:t>07</a:t>
            </a:r>
          </a:p>
        </p:txBody>
      </p:sp>
      <p:sp>
        <p:nvSpPr>
          <p:cNvPr id="20" name="TextBox 19"/>
          <p:cNvSpPr txBox="1"/>
          <p:nvPr/>
        </p:nvSpPr>
        <p:spPr>
          <a:xfrm>
            <a:off x="7223760" y="4206240"/>
            <a:ext cx="4754880" cy="548640"/>
          </a:xfrm>
          <a:prstGeom prst="rect">
            <a:avLst/>
          </a:prstGeom>
          <a:noFill/>
        </p:spPr>
        <p:txBody>
          <a:bodyPr wrap="square" lIns="0" rIns="0" tIns="0" bIns="0" anchor="t">
            <a:spAutoFit/>
          </a:bodyPr>
          <a:lstStyle/>
          <a:p>
            <a:pPr algn="l"/>
            <a:r>
              <a:rPr sz="1800" b="1">
                <a:solidFill>
                  <a:srgbClr val="1F2A37"/>
                </a:solidFill>
                <a:latin typeface="Calibri"/>
              </a:rPr>
              <a:t>Alternativenes dekning</a:t>
            </a:r>
          </a:p>
        </p:txBody>
      </p:sp>
      <p:sp>
        <p:nvSpPr>
          <p:cNvPr id="21" name="TextBox 20"/>
          <p:cNvSpPr txBox="1"/>
          <p:nvPr/>
        </p:nvSpPr>
        <p:spPr>
          <a:xfrm>
            <a:off x="6400800" y="5074920"/>
            <a:ext cx="731520" cy="640080"/>
          </a:xfrm>
          <a:prstGeom prst="rect">
            <a:avLst/>
          </a:prstGeom>
          <a:noFill/>
        </p:spPr>
        <p:txBody>
          <a:bodyPr wrap="square" lIns="0" rIns="0" tIns="0" bIns="0" anchor="t">
            <a:spAutoFit/>
          </a:bodyPr>
          <a:lstStyle/>
          <a:p>
            <a:pPr algn="l"/>
            <a:r>
              <a:rPr sz="3200" b="1">
                <a:solidFill>
                  <a:srgbClr val="C93636"/>
                </a:solidFill>
                <a:latin typeface="Calibri"/>
              </a:rPr>
              <a:t>08</a:t>
            </a:r>
          </a:p>
        </p:txBody>
      </p:sp>
      <p:sp>
        <p:nvSpPr>
          <p:cNvPr id="22" name="TextBox 21"/>
          <p:cNvSpPr txBox="1"/>
          <p:nvPr/>
        </p:nvSpPr>
        <p:spPr>
          <a:xfrm>
            <a:off x="7223760" y="5166360"/>
            <a:ext cx="4754880" cy="548640"/>
          </a:xfrm>
          <a:prstGeom prst="rect">
            <a:avLst/>
          </a:prstGeom>
          <a:noFill/>
        </p:spPr>
        <p:txBody>
          <a:bodyPr wrap="square" lIns="0" rIns="0" tIns="0" bIns="0" anchor="t">
            <a:spAutoFit/>
          </a:bodyPr>
          <a:lstStyle/>
          <a:p>
            <a:pPr algn="l"/>
            <a:r>
              <a:rPr sz="1800" b="1">
                <a:solidFill>
                  <a:srgbClr val="1F2A37"/>
                </a:solidFill>
                <a:latin typeface="Calibri"/>
              </a:rPr>
              <a:t>Veien videre</a:t>
            </a:r>
          </a:p>
        </p:txBody>
      </p:sp>
      <p:sp>
        <p:nvSpPr>
          <p:cNvPr id="23" name="TextBox 22"/>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24" name="TextBox 23"/>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01 · HOVEDPROBLEMET</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Verdikjeden holder ikke tritt</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03120"/>
            <a:ext cx="11064240" cy="1828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103120"/>
            <a:ext cx="109728" cy="18288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40280"/>
            <a:ext cx="10698480" cy="1554480"/>
          </a:xfrm>
          <a:prstGeom prst="rect">
            <a:avLst/>
          </a:prstGeom>
          <a:noFill/>
        </p:spPr>
        <p:txBody>
          <a:bodyPr wrap="square" lIns="0" rIns="0" tIns="0" bIns="0" anchor="ctr">
            <a:spAutoFit/>
          </a:bodyPr>
          <a:lstStyle/>
          <a:p>
            <a:pPr algn="l"/>
            <a:r>
              <a:rPr sz="2200" b="1">
                <a:solidFill>
                  <a:srgbClr val="003366"/>
                </a:solidFill>
                <a:latin typeface="Calibri"/>
              </a:rPr>
              <a:t>Verdikjeden fra forskning til kvalitetssikret helseinformasjon</a:t>
            </a:r>
          </a:p>
          <a:p>
            <a:pPr algn="l"/>
            <a:r>
              <a:rPr sz="2200" b="1">
                <a:solidFill>
                  <a:srgbClr val="003366"/>
                </a:solidFill>
                <a:latin typeface="Calibri"/>
              </a:rPr>
              <a:t>holder ikke tritt med forskningen, ikke tritt med innbyggerne,</a:t>
            </a:r>
          </a:p>
          <a:p>
            <a:pPr algn="l"/>
            <a:r>
              <a:rPr sz="2200" b="1">
                <a:solidFill>
                  <a:srgbClr val="003366"/>
                </a:solidFill>
                <a:latin typeface="Calibri"/>
              </a:rPr>
              <a:t>og er ikke rustet til å skalere i krise.</a:t>
            </a:r>
          </a:p>
        </p:txBody>
      </p:sp>
      <p:sp>
        <p:nvSpPr>
          <p:cNvPr id="10" name="Rectangle 9"/>
          <p:cNvSpPr/>
          <p:nvPr/>
        </p:nvSpPr>
        <p:spPr>
          <a:xfrm>
            <a:off x="548640" y="4297680"/>
            <a:ext cx="3657600" cy="1828800"/>
          </a:xfrm>
          <a:prstGeom prst="rect">
            <a:avLst/>
          </a:prstGeom>
          <a:solidFill>
            <a:srgbClr val="FFFFFF"/>
          </a:solidFill>
          <a:ln>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434840"/>
            <a:ext cx="3657600" cy="822960"/>
          </a:xfrm>
          <a:prstGeom prst="rect">
            <a:avLst/>
          </a:prstGeom>
          <a:noFill/>
        </p:spPr>
        <p:txBody>
          <a:bodyPr wrap="square" lIns="0" rIns="0" tIns="0" bIns="0" anchor="t">
            <a:spAutoFit/>
          </a:bodyPr>
          <a:lstStyle/>
          <a:p>
            <a:pPr algn="ctr"/>
            <a:r>
              <a:rPr sz="3200" b="1">
                <a:solidFill>
                  <a:srgbClr val="C93636"/>
                </a:solidFill>
                <a:latin typeface="Calibri"/>
              </a:rPr>
              <a:t>7–15+ år</a:t>
            </a:r>
          </a:p>
        </p:txBody>
      </p:sp>
      <p:sp>
        <p:nvSpPr>
          <p:cNvPr id="12" name="TextBox 11"/>
          <p:cNvSpPr txBox="1"/>
          <p:nvPr/>
        </p:nvSpPr>
        <p:spPr>
          <a:xfrm>
            <a:off x="548640" y="5349240"/>
            <a:ext cx="3657600" cy="731520"/>
          </a:xfrm>
          <a:prstGeom prst="rect">
            <a:avLst/>
          </a:prstGeom>
          <a:noFill/>
        </p:spPr>
        <p:txBody>
          <a:bodyPr wrap="square" lIns="0" rIns="0" tIns="0" bIns="0" anchor="t">
            <a:spAutoFit/>
          </a:bodyPr>
          <a:lstStyle/>
          <a:p>
            <a:pPr algn="ctr"/>
            <a:r>
              <a:rPr sz="1200" b="0">
                <a:solidFill>
                  <a:srgbClr val="1F2A37"/>
                </a:solidFill>
                <a:latin typeface="Calibri"/>
              </a:rPr>
              <a:t>fra forskning til</a:t>
            </a:r>
          </a:p>
          <a:p>
            <a:pPr algn="ctr"/>
            <a:r>
              <a:rPr sz="1200" b="0">
                <a:solidFill>
                  <a:srgbClr val="1F2A37"/>
                </a:solidFill>
                <a:latin typeface="Calibri"/>
              </a:rPr>
              <a:t>bred praksisendring</a:t>
            </a:r>
          </a:p>
        </p:txBody>
      </p:sp>
      <p:sp>
        <p:nvSpPr>
          <p:cNvPr id="13" name="Rectangle 12"/>
          <p:cNvSpPr/>
          <p:nvPr/>
        </p:nvSpPr>
        <p:spPr>
          <a:xfrm>
            <a:off x="4389120" y="4297680"/>
            <a:ext cx="3657600" cy="1828800"/>
          </a:xfrm>
          <a:prstGeom prst="rect">
            <a:avLst/>
          </a:prstGeom>
          <a:solidFill>
            <a:srgbClr val="FFFFFF"/>
          </a:solidFill>
          <a:ln>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4434840"/>
            <a:ext cx="3657600" cy="822960"/>
          </a:xfrm>
          <a:prstGeom prst="rect">
            <a:avLst/>
          </a:prstGeom>
          <a:noFill/>
        </p:spPr>
        <p:txBody>
          <a:bodyPr wrap="square" lIns="0" rIns="0" tIns="0" bIns="0" anchor="t">
            <a:spAutoFit/>
          </a:bodyPr>
          <a:lstStyle/>
          <a:p>
            <a:pPr algn="ctr"/>
            <a:r>
              <a:rPr sz="3200" b="1">
                <a:solidFill>
                  <a:srgbClr val="C93636"/>
                </a:solidFill>
                <a:latin typeface="Calibri"/>
              </a:rPr>
              <a:t>3 mill.+</a:t>
            </a:r>
          </a:p>
        </p:txBody>
      </p:sp>
      <p:sp>
        <p:nvSpPr>
          <p:cNvPr id="15" name="TextBox 14"/>
          <p:cNvSpPr txBox="1"/>
          <p:nvPr/>
        </p:nvSpPr>
        <p:spPr>
          <a:xfrm>
            <a:off x="4389120" y="5349240"/>
            <a:ext cx="3657600" cy="731520"/>
          </a:xfrm>
          <a:prstGeom prst="rect">
            <a:avLst/>
          </a:prstGeom>
          <a:noFill/>
        </p:spPr>
        <p:txBody>
          <a:bodyPr wrap="square" lIns="0" rIns="0" tIns="0" bIns="0" anchor="t">
            <a:spAutoFit/>
          </a:bodyPr>
          <a:lstStyle/>
          <a:p>
            <a:pPr algn="ctr"/>
            <a:r>
              <a:rPr sz="1200" b="0">
                <a:solidFill>
                  <a:srgbClr val="1F2A37"/>
                </a:solidFill>
                <a:latin typeface="Calibri"/>
              </a:rPr>
              <a:t>vitenskapelige artikler</a:t>
            </a:r>
          </a:p>
          <a:p>
            <a:pPr algn="ctr"/>
            <a:r>
              <a:rPr sz="1200" b="0">
                <a:solidFill>
                  <a:srgbClr val="1F2A37"/>
                </a:solidFill>
                <a:latin typeface="Calibri"/>
              </a:rPr>
              <a:t>publiseres globalt per år</a:t>
            </a:r>
          </a:p>
        </p:txBody>
      </p:sp>
      <p:sp>
        <p:nvSpPr>
          <p:cNvPr id="16" name="Rectangle 15"/>
          <p:cNvSpPr/>
          <p:nvPr/>
        </p:nvSpPr>
        <p:spPr>
          <a:xfrm>
            <a:off x="8229600" y="4297680"/>
            <a:ext cx="3657600" cy="1828800"/>
          </a:xfrm>
          <a:prstGeom prst="rect">
            <a:avLst/>
          </a:prstGeom>
          <a:solidFill>
            <a:srgbClr val="FFFFFF"/>
          </a:solidFill>
          <a:ln>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4434840"/>
            <a:ext cx="3657600" cy="822960"/>
          </a:xfrm>
          <a:prstGeom prst="rect">
            <a:avLst/>
          </a:prstGeom>
          <a:noFill/>
        </p:spPr>
        <p:txBody>
          <a:bodyPr wrap="square" lIns="0" rIns="0" tIns="0" bIns="0" anchor="t">
            <a:spAutoFit/>
          </a:bodyPr>
          <a:lstStyle/>
          <a:p>
            <a:pPr algn="ctr"/>
            <a:r>
              <a:rPr sz="3200" b="1">
                <a:solidFill>
                  <a:srgbClr val="C93636"/>
                </a:solidFill>
                <a:latin typeface="Calibri"/>
              </a:rPr>
              <a:t>54 %</a:t>
            </a:r>
          </a:p>
        </p:txBody>
      </p:sp>
      <p:sp>
        <p:nvSpPr>
          <p:cNvPr id="18" name="TextBox 17"/>
          <p:cNvSpPr txBox="1"/>
          <p:nvPr/>
        </p:nvSpPr>
        <p:spPr>
          <a:xfrm>
            <a:off x="8229600" y="5349240"/>
            <a:ext cx="3657600" cy="731520"/>
          </a:xfrm>
          <a:prstGeom prst="rect">
            <a:avLst/>
          </a:prstGeom>
          <a:noFill/>
        </p:spPr>
        <p:txBody>
          <a:bodyPr wrap="square" lIns="0" rIns="0" tIns="0" bIns="0" anchor="t">
            <a:spAutoFit/>
          </a:bodyPr>
          <a:lstStyle/>
          <a:p>
            <a:pPr algn="ctr"/>
            <a:r>
              <a:rPr sz="1200" b="0">
                <a:solidFill>
                  <a:srgbClr val="1F2A37"/>
                </a:solidFill>
                <a:latin typeface="Calibri"/>
              </a:rPr>
              <a:t>av befolkningen</a:t>
            </a:r>
          </a:p>
          <a:p>
            <a:pPr algn="ctr"/>
            <a:r>
              <a:rPr sz="1200" b="0">
                <a:solidFill>
                  <a:srgbClr val="1F2A37"/>
                </a:solidFill>
                <a:latin typeface="Calibri"/>
              </a:rPr>
              <a:t>bruker generativ KI</a:t>
            </a:r>
          </a:p>
        </p:txBody>
      </p:sp>
      <p:sp>
        <p:nvSpPr>
          <p:cNvPr id="19" name="TextBox 18"/>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20" name="TextBox 19"/>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02 · SEKS DIMENSJONER (1/3)</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Tid og kapasitet</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03120"/>
            <a:ext cx="5394960" cy="77724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822960" cy="594360"/>
          </a:xfrm>
          <a:prstGeom prst="rect">
            <a:avLst/>
          </a:prstGeom>
          <a:noFill/>
        </p:spPr>
        <p:txBody>
          <a:bodyPr wrap="square" lIns="0" rIns="0" tIns="0" bIns="0" anchor="ctr">
            <a:spAutoFit/>
          </a:bodyPr>
          <a:lstStyle/>
          <a:p>
            <a:pPr algn="l"/>
            <a:r>
              <a:rPr sz="2200" b="1">
                <a:solidFill>
                  <a:srgbClr val="FFFFFF"/>
                </a:solidFill>
                <a:latin typeface="Calibri"/>
              </a:rPr>
              <a:t>D1</a:t>
            </a:r>
          </a:p>
        </p:txBody>
      </p:sp>
      <p:sp>
        <p:nvSpPr>
          <p:cNvPr id="9" name="TextBox 8"/>
          <p:cNvSpPr txBox="1"/>
          <p:nvPr/>
        </p:nvSpPr>
        <p:spPr>
          <a:xfrm>
            <a:off x="1737360" y="2194560"/>
            <a:ext cx="4114800" cy="594360"/>
          </a:xfrm>
          <a:prstGeom prst="rect">
            <a:avLst/>
          </a:prstGeom>
          <a:noFill/>
        </p:spPr>
        <p:txBody>
          <a:bodyPr wrap="square" lIns="0" rIns="0" tIns="0" bIns="0" anchor="ctr">
            <a:spAutoFit/>
          </a:bodyPr>
          <a:lstStyle/>
          <a:p>
            <a:pPr algn="l"/>
            <a:r>
              <a:rPr sz="1800" b="1">
                <a:solidFill>
                  <a:srgbClr val="FFFFFF"/>
                </a:solidFill>
                <a:latin typeface="Calibri"/>
              </a:rPr>
              <a:t>Tid og gjennomløp</a:t>
            </a:r>
          </a:p>
        </p:txBody>
      </p:sp>
      <p:sp>
        <p:nvSpPr>
          <p:cNvPr id="10" name="Rectangle 9"/>
          <p:cNvSpPr/>
          <p:nvPr/>
        </p:nvSpPr>
        <p:spPr>
          <a:xfrm>
            <a:off x="548640" y="2880360"/>
            <a:ext cx="5394960" cy="3383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06324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12" name="TextBox 11"/>
          <p:cNvSpPr txBox="1"/>
          <p:nvPr/>
        </p:nvSpPr>
        <p:spPr>
          <a:xfrm>
            <a:off x="1188720" y="3063240"/>
            <a:ext cx="4572000" cy="640080"/>
          </a:xfrm>
          <a:prstGeom prst="rect">
            <a:avLst/>
          </a:prstGeom>
          <a:noFill/>
        </p:spPr>
        <p:txBody>
          <a:bodyPr wrap="square" lIns="0" rIns="0" tIns="0" bIns="0" anchor="t">
            <a:spAutoFit/>
          </a:bodyPr>
          <a:lstStyle/>
          <a:p>
            <a:pPr algn="l"/>
            <a:r>
              <a:rPr sz="1400" b="0">
                <a:solidFill>
                  <a:srgbClr val="1F2A37"/>
                </a:solidFill>
                <a:latin typeface="Calibri"/>
              </a:rPr>
              <a:t>2–3 år: forskning → retningslinje</a:t>
            </a:r>
          </a:p>
        </p:txBody>
      </p:sp>
      <p:sp>
        <p:nvSpPr>
          <p:cNvPr id="13" name="TextBox 12"/>
          <p:cNvSpPr txBox="1"/>
          <p:nvPr/>
        </p:nvSpPr>
        <p:spPr>
          <a:xfrm>
            <a:off x="822960" y="384048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14" name="TextBox 13"/>
          <p:cNvSpPr txBox="1"/>
          <p:nvPr/>
        </p:nvSpPr>
        <p:spPr>
          <a:xfrm>
            <a:off x="1188720" y="3840480"/>
            <a:ext cx="4572000" cy="640080"/>
          </a:xfrm>
          <a:prstGeom prst="rect">
            <a:avLst/>
          </a:prstGeom>
          <a:noFill/>
        </p:spPr>
        <p:txBody>
          <a:bodyPr wrap="square" lIns="0" rIns="0" tIns="0" bIns="0" anchor="t">
            <a:spAutoFit/>
          </a:bodyPr>
          <a:lstStyle/>
          <a:p>
            <a:pPr algn="l"/>
            <a:r>
              <a:rPr sz="1400" b="0">
                <a:solidFill>
                  <a:srgbClr val="1F2A37"/>
                </a:solidFill>
                <a:latin typeface="Calibri"/>
              </a:rPr>
              <a:t>6–12 mnd videre til innbyggerinfo</a:t>
            </a:r>
          </a:p>
        </p:txBody>
      </p:sp>
      <p:sp>
        <p:nvSpPr>
          <p:cNvPr id="15" name="TextBox 14"/>
          <p:cNvSpPr txBox="1"/>
          <p:nvPr/>
        </p:nvSpPr>
        <p:spPr>
          <a:xfrm>
            <a:off x="822960" y="461772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16" name="TextBox 15"/>
          <p:cNvSpPr txBox="1"/>
          <p:nvPr/>
        </p:nvSpPr>
        <p:spPr>
          <a:xfrm>
            <a:off x="1188720" y="4617720"/>
            <a:ext cx="4572000" cy="640080"/>
          </a:xfrm>
          <a:prstGeom prst="rect">
            <a:avLst/>
          </a:prstGeom>
          <a:noFill/>
        </p:spPr>
        <p:txBody>
          <a:bodyPr wrap="square" lIns="0" rIns="0" tIns="0" bIns="0" anchor="t">
            <a:spAutoFit/>
          </a:bodyPr>
          <a:lstStyle/>
          <a:p>
            <a:pPr algn="l"/>
            <a:r>
              <a:rPr sz="1400" b="0">
                <a:solidFill>
                  <a:srgbClr val="1F2A37"/>
                </a:solidFill>
                <a:latin typeface="Calibri"/>
              </a:rPr>
              <a:t>7–15+ år til bred praksisendring</a:t>
            </a:r>
          </a:p>
        </p:txBody>
      </p:sp>
      <p:sp>
        <p:nvSpPr>
          <p:cNvPr id="17" name="TextBox 16"/>
          <p:cNvSpPr txBox="1"/>
          <p:nvPr/>
        </p:nvSpPr>
        <p:spPr>
          <a:xfrm>
            <a:off x="822960" y="539496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18" name="TextBox 17"/>
          <p:cNvSpPr txBox="1"/>
          <p:nvPr/>
        </p:nvSpPr>
        <p:spPr>
          <a:xfrm>
            <a:off x="1188720" y="5394960"/>
            <a:ext cx="4572000" cy="640080"/>
          </a:xfrm>
          <a:prstGeom prst="rect">
            <a:avLst/>
          </a:prstGeom>
          <a:noFill/>
        </p:spPr>
        <p:txBody>
          <a:bodyPr wrap="square" lIns="0" rIns="0" tIns="0" bIns="0" anchor="t">
            <a:spAutoFit/>
          </a:bodyPr>
          <a:lstStyle/>
          <a:p>
            <a:pPr algn="l"/>
            <a:r>
              <a:rPr sz="1400" b="0">
                <a:solidFill>
                  <a:srgbClr val="1F2A37"/>
                </a:solidFill>
                <a:latin typeface="Calibri"/>
              </a:rPr>
              <a:t>8 år fra evidens til refusjon</a:t>
            </a:r>
          </a:p>
        </p:txBody>
      </p:sp>
      <p:sp>
        <p:nvSpPr>
          <p:cNvPr id="19" name="Rectangle 18"/>
          <p:cNvSpPr/>
          <p:nvPr/>
        </p:nvSpPr>
        <p:spPr>
          <a:xfrm>
            <a:off x="6217920" y="2103120"/>
            <a:ext cx="5394960" cy="77724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194560"/>
            <a:ext cx="822960" cy="594360"/>
          </a:xfrm>
          <a:prstGeom prst="rect">
            <a:avLst/>
          </a:prstGeom>
          <a:noFill/>
        </p:spPr>
        <p:txBody>
          <a:bodyPr wrap="square" lIns="0" rIns="0" tIns="0" bIns="0" anchor="ctr">
            <a:spAutoFit/>
          </a:bodyPr>
          <a:lstStyle/>
          <a:p>
            <a:pPr algn="l"/>
            <a:r>
              <a:rPr sz="2200" b="1">
                <a:solidFill>
                  <a:srgbClr val="FFFFFF"/>
                </a:solidFill>
                <a:latin typeface="Calibri"/>
              </a:rPr>
              <a:t>D2</a:t>
            </a:r>
          </a:p>
        </p:txBody>
      </p:sp>
      <p:sp>
        <p:nvSpPr>
          <p:cNvPr id="21" name="TextBox 20"/>
          <p:cNvSpPr txBox="1"/>
          <p:nvPr/>
        </p:nvSpPr>
        <p:spPr>
          <a:xfrm>
            <a:off x="7406640" y="2194560"/>
            <a:ext cx="4114800" cy="594360"/>
          </a:xfrm>
          <a:prstGeom prst="rect">
            <a:avLst/>
          </a:prstGeom>
          <a:noFill/>
        </p:spPr>
        <p:txBody>
          <a:bodyPr wrap="square" lIns="0" rIns="0" tIns="0" bIns="0" anchor="ctr">
            <a:spAutoFit/>
          </a:bodyPr>
          <a:lstStyle/>
          <a:p>
            <a:pPr algn="l"/>
            <a:r>
              <a:rPr sz="1800" b="1">
                <a:solidFill>
                  <a:srgbClr val="FFFFFF"/>
                </a:solidFill>
                <a:latin typeface="Calibri"/>
              </a:rPr>
              <a:t>Kapasitet og volum</a:t>
            </a:r>
          </a:p>
        </p:txBody>
      </p:sp>
      <p:sp>
        <p:nvSpPr>
          <p:cNvPr id="22" name="Rectangle 21"/>
          <p:cNvSpPr/>
          <p:nvPr/>
        </p:nvSpPr>
        <p:spPr>
          <a:xfrm>
            <a:off x="6217920" y="2880360"/>
            <a:ext cx="5394960" cy="3383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06324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24" name="TextBox 23"/>
          <p:cNvSpPr txBox="1"/>
          <p:nvPr/>
        </p:nvSpPr>
        <p:spPr>
          <a:xfrm>
            <a:off x="6858000" y="3063240"/>
            <a:ext cx="4572000" cy="640080"/>
          </a:xfrm>
          <a:prstGeom prst="rect">
            <a:avLst/>
          </a:prstGeom>
          <a:noFill/>
        </p:spPr>
        <p:txBody>
          <a:bodyPr wrap="square" lIns="0" rIns="0" tIns="0" bIns="0" anchor="t">
            <a:spAutoFit/>
          </a:bodyPr>
          <a:lstStyle/>
          <a:p>
            <a:pPr algn="l"/>
            <a:r>
              <a:rPr sz="1400" b="0">
                <a:solidFill>
                  <a:srgbClr val="1F2A37"/>
                </a:solidFill>
                <a:latin typeface="Calibri"/>
              </a:rPr>
              <a:t>Over 3 mill. artikler årlig globalt</a:t>
            </a:r>
          </a:p>
        </p:txBody>
      </p:sp>
      <p:sp>
        <p:nvSpPr>
          <p:cNvPr id="25" name="TextBox 24"/>
          <p:cNvSpPr txBox="1"/>
          <p:nvPr/>
        </p:nvSpPr>
        <p:spPr>
          <a:xfrm>
            <a:off x="6492240" y="384048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26" name="TextBox 25"/>
          <p:cNvSpPr txBox="1"/>
          <p:nvPr/>
        </p:nvSpPr>
        <p:spPr>
          <a:xfrm>
            <a:off x="6858000" y="3840480"/>
            <a:ext cx="4572000" cy="640080"/>
          </a:xfrm>
          <a:prstGeom prst="rect">
            <a:avLst/>
          </a:prstGeom>
          <a:noFill/>
        </p:spPr>
        <p:txBody>
          <a:bodyPr wrap="square" lIns="0" rIns="0" tIns="0" bIns="0" anchor="t">
            <a:spAutoFit/>
          </a:bodyPr>
          <a:lstStyle/>
          <a:p>
            <a:pPr algn="l"/>
            <a:r>
              <a:rPr sz="1400" b="0">
                <a:solidFill>
                  <a:srgbClr val="1F2A37"/>
                </a:solidFill>
                <a:latin typeface="Calibri"/>
              </a:rPr>
              <a:t>Begrenset stab for syst. oversikter</a:t>
            </a:r>
          </a:p>
        </p:txBody>
      </p:sp>
      <p:sp>
        <p:nvSpPr>
          <p:cNvPr id="27" name="TextBox 26"/>
          <p:cNvSpPr txBox="1"/>
          <p:nvPr/>
        </p:nvSpPr>
        <p:spPr>
          <a:xfrm>
            <a:off x="6492240" y="461772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28" name="TextBox 27"/>
          <p:cNvSpPr txBox="1"/>
          <p:nvPr/>
        </p:nvSpPr>
        <p:spPr>
          <a:xfrm>
            <a:off x="6858000" y="4617720"/>
            <a:ext cx="4572000" cy="640080"/>
          </a:xfrm>
          <a:prstGeom prst="rect">
            <a:avLst/>
          </a:prstGeom>
          <a:noFill/>
        </p:spPr>
        <p:txBody>
          <a:bodyPr wrap="square" lIns="0" rIns="0" tIns="0" bIns="0" anchor="t">
            <a:spAutoFit/>
          </a:bodyPr>
          <a:lstStyle/>
          <a:p>
            <a:pPr algn="l"/>
            <a:r>
              <a:rPr sz="1400" b="0">
                <a:solidFill>
                  <a:srgbClr val="1F2A37"/>
                </a:solidFill>
                <a:latin typeface="Calibri"/>
              </a:rPr>
              <a:t>Hdir 2024: «økende gap» mellom</a:t>
            </a:r>
          </a:p>
          <a:p>
            <a:pPr algn="l"/>
            <a:r>
              <a:rPr sz="1400" b="0">
                <a:solidFill>
                  <a:srgbClr val="1F2A37"/>
                </a:solidFill>
                <a:latin typeface="Calibri"/>
              </a:rPr>
              <a:t>muligheter og kapasitet</a:t>
            </a:r>
          </a:p>
        </p:txBody>
      </p:sp>
      <p:sp>
        <p:nvSpPr>
          <p:cNvPr id="29" name="TextBox 28"/>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30" name="TextBox 29"/>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02 · SEKS DIMENSJONER (2/3)</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Struktur og implementering</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03120"/>
            <a:ext cx="5394960" cy="77724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822960" cy="594360"/>
          </a:xfrm>
          <a:prstGeom prst="rect">
            <a:avLst/>
          </a:prstGeom>
          <a:noFill/>
        </p:spPr>
        <p:txBody>
          <a:bodyPr wrap="square" lIns="0" rIns="0" tIns="0" bIns="0" anchor="ctr">
            <a:spAutoFit/>
          </a:bodyPr>
          <a:lstStyle/>
          <a:p>
            <a:pPr algn="l"/>
            <a:r>
              <a:rPr sz="2200" b="1">
                <a:solidFill>
                  <a:srgbClr val="FFFFFF"/>
                </a:solidFill>
                <a:latin typeface="Calibri"/>
              </a:rPr>
              <a:t>D3</a:t>
            </a:r>
          </a:p>
        </p:txBody>
      </p:sp>
      <p:sp>
        <p:nvSpPr>
          <p:cNvPr id="9" name="TextBox 8"/>
          <p:cNvSpPr txBox="1"/>
          <p:nvPr/>
        </p:nvSpPr>
        <p:spPr>
          <a:xfrm>
            <a:off x="1737360" y="2194560"/>
            <a:ext cx="4114800" cy="594360"/>
          </a:xfrm>
          <a:prstGeom prst="rect">
            <a:avLst/>
          </a:prstGeom>
          <a:noFill/>
        </p:spPr>
        <p:txBody>
          <a:bodyPr wrap="square" lIns="0" rIns="0" tIns="0" bIns="0" anchor="ctr">
            <a:spAutoFit/>
          </a:bodyPr>
          <a:lstStyle/>
          <a:p>
            <a:pPr algn="l"/>
            <a:r>
              <a:rPr sz="1800" b="1">
                <a:solidFill>
                  <a:srgbClr val="FFFFFF"/>
                </a:solidFill>
                <a:latin typeface="Calibri"/>
              </a:rPr>
              <a:t>Struktur og styring</a:t>
            </a:r>
          </a:p>
        </p:txBody>
      </p:sp>
      <p:sp>
        <p:nvSpPr>
          <p:cNvPr id="10" name="Rectangle 9"/>
          <p:cNvSpPr/>
          <p:nvPr/>
        </p:nvSpPr>
        <p:spPr>
          <a:xfrm>
            <a:off x="548640" y="2880360"/>
            <a:ext cx="5394960" cy="3383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06324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12" name="TextBox 11"/>
          <p:cNvSpPr txBox="1"/>
          <p:nvPr/>
        </p:nvSpPr>
        <p:spPr>
          <a:xfrm>
            <a:off x="1188720" y="3063240"/>
            <a:ext cx="4572000" cy="640080"/>
          </a:xfrm>
          <a:prstGeom prst="rect">
            <a:avLst/>
          </a:prstGeom>
          <a:noFill/>
        </p:spPr>
        <p:txBody>
          <a:bodyPr wrap="square" lIns="0" rIns="0" tIns="0" bIns="0" anchor="t">
            <a:spAutoFit/>
          </a:bodyPr>
          <a:lstStyle/>
          <a:p>
            <a:pPr algn="l"/>
            <a:r>
              <a:rPr sz="1400" b="0">
                <a:solidFill>
                  <a:srgbClr val="1F2A37"/>
                </a:solidFill>
                <a:latin typeface="Calibri"/>
              </a:rPr>
              <a:t>~20 aktører uten helhetlig</a:t>
            </a:r>
          </a:p>
          <a:p>
            <a:pPr algn="l"/>
            <a:r>
              <a:rPr sz="1400" b="0">
                <a:solidFill>
                  <a:srgbClr val="1F2A37"/>
                </a:solidFill>
                <a:latin typeface="Calibri"/>
              </a:rPr>
              <a:t>styringsmandat</a:t>
            </a:r>
          </a:p>
        </p:txBody>
      </p:sp>
      <p:sp>
        <p:nvSpPr>
          <p:cNvPr id="13" name="TextBox 12"/>
          <p:cNvSpPr txBox="1"/>
          <p:nvPr/>
        </p:nvSpPr>
        <p:spPr>
          <a:xfrm>
            <a:off x="822960" y="384048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14" name="TextBox 13"/>
          <p:cNvSpPr txBox="1"/>
          <p:nvPr/>
        </p:nvSpPr>
        <p:spPr>
          <a:xfrm>
            <a:off x="1188720" y="3840480"/>
            <a:ext cx="4572000" cy="640080"/>
          </a:xfrm>
          <a:prstGeom prst="rect">
            <a:avLst/>
          </a:prstGeom>
          <a:noFill/>
        </p:spPr>
        <p:txBody>
          <a:bodyPr wrap="square" lIns="0" rIns="0" tIns="0" bIns="0" anchor="t">
            <a:spAutoFit/>
          </a:bodyPr>
          <a:lstStyle/>
          <a:p>
            <a:pPr algn="l"/>
            <a:r>
              <a:rPr sz="1400" b="0">
                <a:solidFill>
                  <a:srgbClr val="1F2A37"/>
                </a:solidFill>
                <a:latin typeface="Calibri"/>
              </a:rPr>
              <a:t>Fragmenterte IT-systemer</a:t>
            </a:r>
          </a:p>
          <a:p>
            <a:pPr algn="l"/>
            <a:r>
              <a:rPr sz="1400" b="0">
                <a:solidFill>
                  <a:srgbClr val="1F2A37"/>
                </a:solidFill>
                <a:latin typeface="Calibri"/>
              </a:rPr>
              <a:t>og ulike kodeverk</a:t>
            </a:r>
          </a:p>
        </p:txBody>
      </p:sp>
      <p:sp>
        <p:nvSpPr>
          <p:cNvPr id="15" name="TextBox 14"/>
          <p:cNvSpPr txBox="1"/>
          <p:nvPr/>
        </p:nvSpPr>
        <p:spPr>
          <a:xfrm>
            <a:off x="822960" y="461772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16" name="TextBox 15"/>
          <p:cNvSpPr txBox="1"/>
          <p:nvPr/>
        </p:nvSpPr>
        <p:spPr>
          <a:xfrm>
            <a:off x="1188720" y="4617720"/>
            <a:ext cx="4572000" cy="640080"/>
          </a:xfrm>
          <a:prstGeom prst="rect">
            <a:avLst/>
          </a:prstGeom>
          <a:noFill/>
        </p:spPr>
        <p:txBody>
          <a:bodyPr wrap="square" lIns="0" rIns="0" tIns="0" bIns="0" anchor="t">
            <a:spAutoFit/>
          </a:bodyPr>
          <a:lstStyle/>
          <a:p>
            <a:pPr algn="l"/>
            <a:r>
              <a:rPr sz="1400" b="0">
                <a:solidFill>
                  <a:srgbClr val="1F2A37"/>
                </a:solidFill>
                <a:latin typeface="Calibri"/>
              </a:rPr>
              <a:t>Fritekst uten metadata</a:t>
            </a:r>
          </a:p>
          <a:p>
            <a:pPr algn="l"/>
            <a:r>
              <a:rPr sz="1400" b="0">
                <a:solidFill>
                  <a:srgbClr val="1F2A37"/>
                </a:solidFill>
                <a:latin typeface="Calibri"/>
              </a:rPr>
              <a:t>hindrer automatisering</a:t>
            </a:r>
          </a:p>
        </p:txBody>
      </p:sp>
      <p:sp>
        <p:nvSpPr>
          <p:cNvPr id="17" name="Rectangle 16"/>
          <p:cNvSpPr/>
          <p:nvPr/>
        </p:nvSpPr>
        <p:spPr>
          <a:xfrm>
            <a:off x="6217920" y="2103120"/>
            <a:ext cx="5394960" cy="77724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194560"/>
            <a:ext cx="822960" cy="594360"/>
          </a:xfrm>
          <a:prstGeom prst="rect">
            <a:avLst/>
          </a:prstGeom>
          <a:noFill/>
        </p:spPr>
        <p:txBody>
          <a:bodyPr wrap="square" lIns="0" rIns="0" tIns="0" bIns="0" anchor="ctr">
            <a:spAutoFit/>
          </a:bodyPr>
          <a:lstStyle/>
          <a:p>
            <a:pPr algn="l"/>
            <a:r>
              <a:rPr sz="2200" b="1">
                <a:solidFill>
                  <a:srgbClr val="FFFFFF"/>
                </a:solidFill>
                <a:latin typeface="Calibri"/>
              </a:rPr>
              <a:t>D4</a:t>
            </a:r>
          </a:p>
        </p:txBody>
      </p:sp>
      <p:sp>
        <p:nvSpPr>
          <p:cNvPr id="19" name="TextBox 18"/>
          <p:cNvSpPr txBox="1"/>
          <p:nvPr/>
        </p:nvSpPr>
        <p:spPr>
          <a:xfrm>
            <a:off x="7406640" y="2194560"/>
            <a:ext cx="4114800" cy="594360"/>
          </a:xfrm>
          <a:prstGeom prst="rect">
            <a:avLst/>
          </a:prstGeom>
          <a:noFill/>
        </p:spPr>
        <p:txBody>
          <a:bodyPr wrap="square" lIns="0" rIns="0" tIns="0" bIns="0" anchor="ctr">
            <a:spAutoFit/>
          </a:bodyPr>
          <a:lstStyle/>
          <a:p>
            <a:pPr algn="l"/>
            <a:r>
              <a:rPr sz="1800" b="1">
                <a:solidFill>
                  <a:srgbClr val="FFFFFF"/>
                </a:solidFill>
                <a:latin typeface="Calibri"/>
              </a:rPr>
              <a:t>Implementering og insentiver</a:t>
            </a:r>
          </a:p>
        </p:txBody>
      </p:sp>
      <p:sp>
        <p:nvSpPr>
          <p:cNvPr id="20" name="Rectangle 19"/>
          <p:cNvSpPr/>
          <p:nvPr/>
        </p:nvSpPr>
        <p:spPr>
          <a:xfrm>
            <a:off x="6217920" y="2880360"/>
            <a:ext cx="5394960" cy="3383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06324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22" name="TextBox 21"/>
          <p:cNvSpPr txBox="1"/>
          <p:nvPr/>
        </p:nvSpPr>
        <p:spPr>
          <a:xfrm>
            <a:off x="6858000" y="3063240"/>
            <a:ext cx="4572000" cy="640080"/>
          </a:xfrm>
          <a:prstGeom prst="rect">
            <a:avLst/>
          </a:prstGeom>
          <a:noFill/>
        </p:spPr>
        <p:txBody>
          <a:bodyPr wrap="square" lIns="0" rIns="0" tIns="0" bIns="0" anchor="t">
            <a:spAutoFit/>
          </a:bodyPr>
          <a:lstStyle/>
          <a:p>
            <a:pPr algn="l"/>
            <a:r>
              <a:rPr sz="1400" b="0">
                <a:solidFill>
                  <a:srgbClr val="1F2A37"/>
                </a:solidFill>
                <a:latin typeface="Calibri"/>
              </a:rPr>
              <a:t>Ingen aktør eier</a:t>
            </a:r>
          </a:p>
          <a:p>
            <a:pPr algn="l"/>
            <a:r>
              <a:rPr sz="1400" b="0">
                <a:solidFill>
                  <a:srgbClr val="1F2A37"/>
                </a:solidFill>
                <a:latin typeface="Calibri"/>
              </a:rPr>
              <a:t>implementeringsgapet</a:t>
            </a:r>
          </a:p>
        </p:txBody>
      </p:sp>
      <p:sp>
        <p:nvSpPr>
          <p:cNvPr id="23" name="TextBox 22"/>
          <p:cNvSpPr txBox="1"/>
          <p:nvPr/>
        </p:nvSpPr>
        <p:spPr>
          <a:xfrm>
            <a:off x="6492240" y="384048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24" name="TextBox 23"/>
          <p:cNvSpPr txBox="1"/>
          <p:nvPr/>
        </p:nvSpPr>
        <p:spPr>
          <a:xfrm>
            <a:off x="6858000" y="3840480"/>
            <a:ext cx="4572000" cy="640080"/>
          </a:xfrm>
          <a:prstGeom prst="rect">
            <a:avLst/>
          </a:prstGeom>
          <a:noFill/>
        </p:spPr>
        <p:txBody>
          <a:bodyPr wrap="square" lIns="0" rIns="0" tIns="0" bIns="0" anchor="t">
            <a:spAutoFit/>
          </a:bodyPr>
          <a:lstStyle/>
          <a:p>
            <a:pPr algn="l"/>
            <a:r>
              <a:rPr sz="1400" b="0">
                <a:solidFill>
                  <a:srgbClr val="1F2A37"/>
                </a:solidFill>
                <a:latin typeface="Calibri"/>
              </a:rPr>
              <a:t>Refusjonsbeslutninger ligger</a:t>
            </a:r>
          </a:p>
          <a:p>
            <a:pPr algn="l"/>
            <a:r>
              <a:rPr sz="1400" b="0">
                <a:solidFill>
                  <a:srgbClr val="1F2A37"/>
                </a:solidFill>
                <a:latin typeface="Calibri"/>
              </a:rPr>
              <a:t>i separat beslutningskjede</a:t>
            </a:r>
          </a:p>
        </p:txBody>
      </p:sp>
      <p:sp>
        <p:nvSpPr>
          <p:cNvPr id="25" name="TextBox 24"/>
          <p:cNvSpPr txBox="1"/>
          <p:nvPr/>
        </p:nvSpPr>
        <p:spPr>
          <a:xfrm>
            <a:off x="6492240" y="461772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26" name="TextBox 25"/>
          <p:cNvSpPr txBox="1"/>
          <p:nvPr/>
        </p:nvSpPr>
        <p:spPr>
          <a:xfrm>
            <a:off x="6858000" y="4617720"/>
            <a:ext cx="4572000" cy="640080"/>
          </a:xfrm>
          <a:prstGeom prst="rect">
            <a:avLst/>
          </a:prstGeom>
          <a:noFill/>
        </p:spPr>
        <p:txBody>
          <a:bodyPr wrap="square" lIns="0" rIns="0" tIns="0" bIns="0" anchor="t">
            <a:spAutoFit/>
          </a:bodyPr>
          <a:lstStyle/>
          <a:p>
            <a:pPr algn="l"/>
            <a:r>
              <a:rPr sz="1400" b="0">
                <a:solidFill>
                  <a:srgbClr val="1F2A37"/>
                </a:solidFill>
                <a:latin typeface="Calibri"/>
              </a:rPr>
              <a:t>Begrenset overvåking</a:t>
            </a:r>
          </a:p>
          <a:p>
            <a:pPr algn="l"/>
            <a:r>
              <a:rPr sz="1400" b="0">
                <a:solidFill>
                  <a:srgbClr val="1F2A37"/>
                </a:solidFill>
                <a:latin typeface="Calibri"/>
              </a:rPr>
              <a:t>av etterlevelse</a:t>
            </a:r>
          </a:p>
        </p:txBody>
      </p:sp>
      <p:sp>
        <p:nvSpPr>
          <p:cNvPr id="27" name="TextBox 26"/>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28" name="TextBox 27"/>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02 · SEKS DIMENSJONER (3/3)</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Tillit og beredskap</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03120"/>
            <a:ext cx="5394960" cy="77724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822960" cy="594360"/>
          </a:xfrm>
          <a:prstGeom prst="rect">
            <a:avLst/>
          </a:prstGeom>
          <a:noFill/>
        </p:spPr>
        <p:txBody>
          <a:bodyPr wrap="square" lIns="0" rIns="0" tIns="0" bIns="0" anchor="ctr">
            <a:spAutoFit/>
          </a:bodyPr>
          <a:lstStyle/>
          <a:p>
            <a:pPr algn="l"/>
            <a:r>
              <a:rPr sz="2200" b="1">
                <a:solidFill>
                  <a:srgbClr val="FFFFFF"/>
                </a:solidFill>
                <a:latin typeface="Calibri"/>
              </a:rPr>
              <a:t>D5</a:t>
            </a:r>
          </a:p>
        </p:txBody>
      </p:sp>
      <p:sp>
        <p:nvSpPr>
          <p:cNvPr id="9" name="TextBox 8"/>
          <p:cNvSpPr txBox="1"/>
          <p:nvPr/>
        </p:nvSpPr>
        <p:spPr>
          <a:xfrm>
            <a:off x="1737360" y="2194560"/>
            <a:ext cx="4114800" cy="594360"/>
          </a:xfrm>
          <a:prstGeom prst="rect">
            <a:avLst/>
          </a:prstGeom>
          <a:noFill/>
        </p:spPr>
        <p:txBody>
          <a:bodyPr wrap="square" lIns="0" rIns="0" tIns="0" bIns="0" anchor="ctr">
            <a:spAutoFit/>
          </a:bodyPr>
          <a:lstStyle/>
          <a:p>
            <a:pPr algn="l"/>
            <a:r>
              <a:rPr sz="1800" b="1">
                <a:solidFill>
                  <a:srgbClr val="FFFFFF"/>
                </a:solidFill>
                <a:latin typeface="Calibri"/>
              </a:rPr>
              <a:t>Tillit og innbyggerbehov</a:t>
            </a:r>
          </a:p>
        </p:txBody>
      </p:sp>
      <p:sp>
        <p:nvSpPr>
          <p:cNvPr id="10" name="Rectangle 9"/>
          <p:cNvSpPr/>
          <p:nvPr/>
        </p:nvSpPr>
        <p:spPr>
          <a:xfrm>
            <a:off x="548640" y="2880360"/>
            <a:ext cx="5394960" cy="3383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06324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12" name="TextBox 11"/>
          <p:cNvSpPr txBox="1"/>
          <p:nvPr/>
        </p:nvSpPr>
        <p:spPr>
          <a:xfrm>
            <a:off x="1188720" y="3063240"/>
            <a:ext cx="4572000" cy="640080"/>
          </a:xfrm>
          <a:prstGeom prst="rect">
            <a:avLst/>
          </a:prstGeom>
          <a:noFill/>
        </p:spPr>
        <p:txBody>
          <a:bodyPr wrap="square" lIns="0" rIns="0" tIns="0" bIns="0" anchor="t">
            <a:spAutoFit/>
          </a:bodyPr>
          <a:lstStyle/>
          <a:p>
            <a:pPr algn="l"/>
            <a:r>
              <a:rPr sz="1400" b="0">
                <a:solidFill>
                  <a:srgbClr val="1F2A37"/>
                </a:solidFill>
                <a:latin typeface="Calibri"/>
              </a:rPr>
              <a:t>99 % kjenner Helsenorge</a:t>
            </a:r>
          </a:p>
          <a:p>
            <a:pPr algn="l"/>
            <a:r>
              <a:rPr sz="1400" b="0">
                <a:solidFill>
                  <a:srgbClr val="1F2A37"/>
                </a:solidFill>
                <a:latin typeface="Calibri"/>
              </a:rPr>
              <a:t>— 54 % bruker gen. KI</a:t>
            </a:r>
          </a:p>
        </p:txBody>
      </p:sp>
      <p:sp>
        <p:nvSpPr>
          <p:cNvPr id="13" name="TextBox 12"/>
          <p:cNvSpPr txBox="1"/>
          <p:nvPr/>
        </p:nvSpPr>
        <p:spPr>
          <a:xfrm>
            <a:off x="822960" y="384048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14" name="TextBox 13"/>
          <p:cNvSpPr txBox="1"/>
          <p:nvPr/>
        </p:nvSpPr>
        <p:spPr>
          <a:xfrm>
            <a:off x="1188720" y="3840480"/>
            <a:ext cx="4572000" cy="640080"/>
          </a:xfrm>
          <a:prstGeom prst="rect">
            <a:avLst/>
          </a:prstGeom>
          <a:noFill/>
        </p:spPr>
        <p:txBody>
          <a:bodyPr wrap="square" lIns="0" rIns="0" tIns="0" bIns="0" anchor="t">
            <a:spAutoFit/>
          </a:bodyPr>
          <a:lstStyle/>
          <a:p>
            <a:pPr algn="l"/>
            <a:r>
              <a:rPr sz="1400" b="0">
                <a:solidFill>
                  <a:srgbClr val="1F2A37"/>
                </a:solidFill>
                <a:latin typeface="Calibri"/>
              </a:rPr>
              <a:t>Yngre bruker ChatGPT som</a:t>
            </a:r>
          </a:p>
          <a:p>
            <a:pPr algn="l"/>
            <a:r>
              <a:rPr sz="1400" b="0">
                <a:solidFill>
                  <a:srgbClr val="1F2A37"/>
                </a:solidFill>
                <a:latin typeface="Calibri"/>
              </a:rPr>
              <a:t>helsekilde</a:t>
            </a:r>
          </a:p>
        </p:txBody>
      </p:sp>
      <p:sp>
        <p:nvSpPr>
          <p:cNvPr id="15" name="TextBox 14"/>
          <p:cNvSpPr txBox="1"/>
          <p:nvPr/>
        </p:nvSpPr>
        <p:spPr>
          <a:xfrm>
            <a:off x="822960" y="461772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16" name="TextBox 15"/>
          <p:cNvSpPr txBox="1"/>
          <p:nvPr/>
        </p:nvSpPr>
        <p:spPr>
          <a:xfrm>
            <a:off x="1188720" y="4617720"/>
            <a:ext cx="4572000" cy="640080"/>
          </a:xfrm>
          <a:prstGeom prst="rect">
            <a:avLst/>
          </a:prstGeom>
          <a:noFill/>
        </p:spPr>
        <p:txBody>
          <a:bodyPr wrap="square" lIns="0" rIns="0" tIns="0" bIns="0" anchor="t">
            <a:spAutoFit/>
          </a:bodyPr>
          <a:lstStyle/>
          <a:p>
            <a:pPr algn="l"/>
            <a:r>
              <a:rPr sz="1400" b="0">
                <a:solidFill>
                  <a:srgbClr val="1F2A37"/>
                </a:solidFill>
                <a:latin typeface="Calibri"/>
              </a:rPr>
              <a:t>Generisk innhold, lite tilpasset</a:t>
            </a:r>
          </a:p>
          <a:p>
            <a:pPr algn="l"/>
            <a:r>
              <a:rPr sz="1400" b="0">
                <a:solidFill>
                  <a:srgbClr val="1F2A37"/>
                </a:solidFill>
                <a:latin typeface="Calibri"/>
              </a:rPr>
              <a:t>sårbare grupper</a:t>
            </a:r>
          </a:p>
        </p:txBody>
      </p:sp>
      <p:sp>
        <p:nvSpPr>
          <p:cNvPr id="17" name="Rectangle 16"/>
          <p:cNvSpPr/>
          <p:nvPr/>
        </p:nvSpPr>
        <p:spPr>
          <a:xfrm>
            <a:off x="6217920" y="2103120"/>
            <a:ext cx="5394960" cy="77724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194560"/>
            <a:ext cx="822960" cy="594360"/>
          </a:xfrm>
          <a:prstGeom prst="rect">
            <a:avLst/>
          </a:prstGeom>
          <a:noFill/>
        </p:spPr>
        <p:txBody>
          <a:bodyPr wrap="square" lIns="0" rIns="0" tIns="0" bIns="0" anchor="ctr">
            <a:spAutoFit/>
          </a:bodyPr>
          <a:lstStyle/>
          <a:p>
            <a:pPr algn="l"/>
            <a:r>
              <a:rPr sz="2200" b="1">
                <a:solidFill>
                  <a:srgbClr val="FFFFFF"/>
                </a:solidFill>
                <a:latin typeface="Calibri"/>
              </a:rPr>
              <a:t>D6</a:t>
            </a:r>
          </a:p>
        </p:txBody>
      </p:sp>
      <p:sp>
        <p:nvSpPr>
          <p:cNvPr id="19" name="TextBox 18"/>
          <p:cNvSpPr txBox="1"/>
          <p:nvPr/>
        </p:nvSpPr>
        <p:spPr>
          <a:xfrm>
            <a:off x="7406640" y="2194560"/>
            <a:ext cx="4114800" cy="594360"/>
          </a:xfrm>
          <a:prstGeom prst="rect">
            <a:avLst/>
          </a:prstGeom>
          <a:noFill/>
        </p:spPr>
        <p:txBody>
          <a:bodyPr wrap="square" lIns="0" rIns="0" tIns="0" bIns="0" anchor="ctr">
            <a:spAutoFit/>
          </a:bodyPr>
          <a:lstStyle/>
          <a:p>
            <a:pPr algn="l"/>
            <a:r>
              <a:rPr sz="1800" b="1">
                <a:solidFill>
                  <a:srgbClr val="FFFFFF"/>
                </a:solidFill>
                <a:latin typeface="Calibri"/>
              </a:rPr>
              <a:t>Beredskap</a:t>
            </a:r>
          </a:p>
        </p:txBody>
      </p:sp>
      <p:sp>
        <p:nvSpPr>
          <p:cNvPr id="20" name="Rectangle 19"/>
          <p:cNvSpPr/>
          <p:nvPr/>
        </p:nvSpPr>
        <p:spPr>
          <a:xfrm>
            <a:off x="6217920" y="2880360"/>
            <a:ext cx="5394960" cy="3383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06324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22" name="TextBox 21"/>
          <p:cNvSpPr txBox="1"/>
          <p:nvPr/>
        </p:nvSpPr>
        <p:spPr>
          <a:xfrm>
            <a:off x="6858000" y="3063240"/>
            <a:ext cx="4572000" cy="640080"/>
          </a:xfrm>
          <a:prstGeom prst="rect">
            <a:avLst/>
          </a:prstGeom>
          <a:noFill/>
        </p:spPr>
        <p:txBody>
          <a:bodyPr wrap="square" lIns="0" rIns="0" tIns="0" bIns="0" anchor="t">
            <a:spAutoFit/>
          </a:bodyPr>
          <a:lstStyle/>
          <a:p>
            <a:pPr algn="l"/>
            <a:r>
              <a:rPr sz="1400" b="0">
                <a:solidFill>
                  <a:srgbClr val="1F2A37"/>
                </a:solidFill>
                <a:latin typeface="Calibri"/>
              </a:rPr>
              <a:t>Verdikjeden skalerer ikke</a:t>
            </a:r>
          </a:p>
          <a:p>
            <a:pPr algn="l"/>
            <a:r>
              <a:rPr sz="1400" b="0">
                <a:solidFill>
                  <a:srgbClr val="1F2A37"/>
                </a:solidFill>
                <a:latin typeface="Calibri"/>
              </a:rPr>
              <a:t>til kriser</a:t>
            </a:r>
          </a:p>
        </p:txBody>
      </p:sp>
      <p:sp>
        <p:nvSpPr>
          <p:cNvPr id="23" name="TextBox 22"/>
          <p:cNvSpPr txBox="1"/>
          <p:nvPr/>
        </p:nvSpPr>
        <p:spPr>
          <a:xfrm>
            <a:off x="6492240" y="384048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24" name="TextBox 23"/>
          <p:cNvSpPr txBox="1"/>
          <p:nvPr/>
        </p:nvSpPr>
        <p:spPr>
          <a:xfrm>
            <a:off x="6858000" y="3840480"/>
            <a:ext cx="4572000" cy="640080"/>
          </a:xfrm>
          <a:prstGeom prst="rect">
            <a:avLst/>
          </a:prstGeom>
          <a:noFill/>
        </p:spPr>
        <p:txBody>
          <a:bodyPr wrap="square" lIns="0" rIns="0" tIns="0" bIns="0" anchor="t">
            <a:spAutoFit/>
          </a:bodyPr>
          <a:lstStyle/>
          <a:p>
            <a:pPr algn="l"/>
            <a:r>
              <a:rPr sz="1400" b="0">
                <a:solidFill>
                  <a:srgbClr val="1F2A37"/>
                </a:solidFill>
                <a:latin typeface="Calibri"/>
              </a:rPr>
              <a:t>COVID-19 krevde improvisering</a:t>
            </a:r>
          </a:p>
          <a:p>
            <a:pPr algn="l"/>
            <a:r>
              <a:rPr sz="1400" b="0">
                <a:solidFill>
                  <a:srgbClr val="1F2A37"/>
                </a:solidFill>
                <a:latin typeface="Calibri"/>
              </a:rPr>
              <a:t>og hurtigprosesser</a:t>
            </a:r>
          </a:p>
        </p:txBody>
      </p:sp>
      <p:sp>
        <p:nvSpPr>
          <p:cNvPr id="25" name="TextBox 24"/>
          <p:cNvSpPr txBox="1"/>
          <p:nvPr/>
        </p:nvSpPr>
        <p:spPr>
          <a:xfrm>
            <a:off x="6492240" y="4617720"/>
            <a:ext cx="365760" cy="640080"/>
          </a:xfrm>
          <a:prstGeom prst="rect">
            <a:avLst/>
          </a:prstGeom>
          <a:noFill/>
        </p:spPr>
        <p:txBody>
          <a:bodyPr wrap="square" lIns="0" rIns="0" tIns="0" bIns="0" anchor="t">
            <a:spAutoFit/>
          </a:bodyPr>
          <a:lstStyle/>
          <a:p>
            <a:pPr algn="l"/>
            <a:r>
              <a:rPr sz="1800" b="1">
                <a:solidFill>
                  <a:srgbClr val="C93636"/>
                </a:solidFill>
                <a:latin typeface="Calibri"/>
              </a:rPr>
              <a:t>▸</a:t>
            </a:r>
          </a:p>
        </p:txBody>
      </p:sp>
      <p:sp>
        <p:nvSpPr>
          <p:cNvPr id="26" name="TextBox 25"/>
          <p:cNvSpPr txBox="1"/>
          <p:nvPr/>
        </p:nvSpPr>
        <p:spPr>
          <a:xfrm>
            <a:off x="6858000" y="4617720"/>
            <a:ext cx="4572000" cy="640080"/>
          </a:xfrm>
          <a:prstGeom prst="rect">
            <a:avLst/>
          </a:prstGeom>
          <a:noFill/>
        </p:spPr>
        <p:txBody>
          <a:bodyPr wrap="square" lIns="0" rIns="0" tIns="0" bIns="0" anchor="t">
            <a:spAutoFit/>
          </a:bodyPr>
          <a:lstStyle/>
          <a:p>
            <a:pPr algn="l"/>
            <a:r>
              <a:rPr sz="1400" b="0">
                <a:solidFill>
                  <a:srgbClr val="1F2A37"/>
                </a:solidFill>
                <a:latin typeface="Calibri"/>
              </a:rPr>
              <a:t>Neste krise: samme improvisasjon</a:t>
            </a:r>
          </a:p>
          <a:p>
            <a:pPr algn="l"/>
            <a:r>
              <a:rPr sz="1400" b="0">
                <a:solidFill>
                  <a:srgbClr val="1F2A37"/>
                </a:solidFill>
                <a:latin typeface="Calibri"/>
              </a:rPr>
              <a:t>uten strukturelle grep</a:t>
            </a:r>
          </a:p>
        </p:txBody>
      </p:sp>
      <p:sp>
        <p:nvSpPr>
          <p:cNvPr id="27" name="TextBox 26"/>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28" name="TextBox 27"/>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03 · DESTILLAT</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Tre kjerneegenskaper verdikjeden mangler</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286000"/>
            <a:ext cx="3657600" cy="3840480"/>
          </a:xfrm>
          <a:prstGeom prst="rect">
            <a:avLst/>
          </a:prstGeom>
          <a:solidFill>
            <a:srgbClr val="FFFFFF"/>
          </a:solidFill>
          <a:ln>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286000"/>
            <a:ext cx="3657600" cy="8229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331720"/>
            <a:ext cx="3657600" cy="777240"/>
          </a:xfrm>
          <a:prstGeom prst="rect">
            <a:avLst/>
          </a:prstGeom>
          <a:noFill/>
        </p:spPr>
        <p:txBody>
          <a:bodyPr wrap="square" lIns="0" rIns="0" tIns="0" bIns="0" anchor="ctr">
            <a:spAutoFit/>
          </a:bodyPr>
          <a:lstStyle/>
          <a:p>
            <a:pPr algn="ctr"/>
            <a:r>
              <a:rPr sz="2200" b="1">
                <a:solidFill>
                  <a:srgbClr val="FFFFFF"/>
                </a:solidFill>
                <a:latin typeface="Calibri"/>
              </a:rPr>
              <a:t>Skalerbarhet</a:t>
            </a:r>
          </a:p>
        </p:txBody>
      </p:sp>
      <p:sp>
        <p:nvSpPr>
          <p:cNvPr id="10" name="TextBox 9"/>
          <p:cNvSpPr txBox="1"/>
          <p:nvPr/>
        </p:nvSpPr>
        <p:spPr>
          <a:xfrm>
            <a:off x="822960" y="3383280"/>
            <a:ext cx="3108960" cy="1828800"/>
          </a:xfrm>
          <a:prstGeom prst="rect">
            <a:avLst/>
          </a:prstGeom>
          <a:noFill/>
        </p:spPr>
        <p:txBody>
          <a:bodyPr wrap="square" lIns="0" rIns="0" tIns="0" bIns="0" anchor="t">
            <a:spAutoFit/>
          </a:bodyPr>
          <a:lstStyle/>
          <a:p>
            <a:pPr algn="l"/>
            <a:r>
              <a:rPr sz="1400" b="0">
                <a:solidFill>
                  <a:srgbClr val="1F2A37"/>
                </a:solidFill>
                <a:latin typeface="Calibri"/>
              </a:rPr>
              <a:t>Kapasiteten øker ikke i takt med forskningsvolumet.</a:t>
            </a:r>
          </a:p>
        </p:txBody>
      </p:sp>
      <p:sp>
        <p:nvSpPr>
          <p:cNvPr id="11" name="TextBox 10"/>
          <p:cNvSpPr txBox="1"/>
          <p:nvPr/>
        </p:nvSpPr>
        <p:spPr>
          <a:xfrm>
            <a:off x="822960" y="5486400"/>
            <a:ext cx="3108960" cy="457200"/>
          </a:xfrm>
          <a:prstGeom prst="rect">
            <a:avLst/>
          </a:prstGeom>
          <a:noFill/>
        </p:spPr>
        <p:txBody>
          <a:bodyPr wrap="square" lIns="0" rIns="0" tIns="0" bIns="0" anchor="t">
            <a:spAutoFit/>
          </a:bodyPr>
          <a:lstStyle/>
          <a:p>
            <a:pPr algn="l"/>
            <a:r>
              <a:rPr sz="1100" b="1">
                <a:solidFill>
                  <a:srgbClr val="C93636"/>
                </a:solidFill>
                <a:latin typeface="Calibri"/>
              </a:rPr>
              <a:t>Knytter til: D2</a:t>
            </a:r>
          </a:p>
        </p:txBody>
      </p:sp>
      <p:sp>
        <p:nvSpPr>
          <p:cNvPr id="12" name="Rectangle 11"/>
          <p:cNvSpPr/>
          <p:nvPr/>
        </p:nvSpPr>
        <p:spPr>
          <a:xfrm>
            <a:off x="4389120" y="2286000"/>
            <a:ext cx="3657600" cy="3840480"/>
          </a:xfrm>
          <a:prstGeom prst="rect">
            <a:avLst/>
          </a:prstGeom>
          <a:solidFill>
            <a:srgbClr val="FFFFFF"/>
          </a:solidFill>
          <a:ln>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2286000"/>
            <a:ext cx="3657600" cy="8229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331720"/>
            <a:ext cx="3657600" cy="777240"/>
          </a:xfrm>
          <a:prstGeom prst="rect">
            <a:avLst/>
          </a:prstGeom>
          <a:noFill/>
        </p:spPr>
        <p:txBody>
          <a:bodyPr wrap="square" lIns="0" rIns="0" tIns="0" bIns="0" anchor="ctr">
            <a:spAutoFit/>
          </a:bodyPr>
          <a:lstStyle/>
          <a:p>
            <a:pPr algn="ctr"/>
            <a:r>
              <a:rPr sz="2200" b="1">
                <a:solidFill>
                  <a:srgbClr val="FFFFFF"/>
                </a:solidFill>
                <a:latin typeface="Calibri"/>
              </a:rPr>
              <a:t>Reaktivitet</a:t>
            </a:r>
          </a:p>
        </p:txBody>
      </p:sp>
      <p:sp>
        <p:nvSpPr>
          <p:cNvPr id="15" name="TextBox 14"/>
          <p:cNvSpPr txBox="1"/>
          <p:nvPr/>
        </p:nvSpPr>
        <p:spPr>
          <a:xfrm>
            <a:off x="4663440" y="3383280"/>
            <a:ext cx="3108960" cy="1828800"/>
          </a:xfrm>
          <a:prstGeom prst="rect">
            <a:avLst/>
          </a:prstGeom>
          <a:noFill/>
        </p:spPr>
        <p:txBody>
          <a:bodyPr wrap="square" lIns="0" rIns="0" tIns="0" bIns="0" anchor="t">
            <a:spAutoFit/>
          </a:bodyPr>
          <a:lstStyle/>
          <a:p>
            <a:pPr algn="l"/>
            <a:r>
              <a:rPr sz="1400" b="0">
                <a:solidFill>
                  <a:srgbClr val="1F2A37"/>
                </a:solidFill>
                <a:latin typeface="Calibri"/>
              </a:rPr>
              <a:t>Gjennomløpstid hindrer rask respons – særlig i kriser.</a:t>
            </a:r>
          </a:p>
        </p:txBody>
      </p:sp>
      <p:sp>
        <p:nvSpPr>
          <p:cNvPr id="16" name="TextBox 15"/>
          <p:cNvSpPr txBox="1"/>
          <p:nvPr/>
        </p:nvSpPr>
        <p:spPr>
          <a:xfrm>
            <a:off x="4663440" y="5486400"/>
            <a:ext cx="3108960" cy="457200"/>
          </a:xfrm>
          <a:prstGeom prst="rect">
            <a:avLst/>
          </a:prstGeom>
          <a:noFill/>
        </p:spPr>
        <p:txBody>
          <a:bodyPr wrap="square" lIns="0" rIns="0" tIns="0" bIns="0" anchor="t">
            <a:spAutoFit/>
          </a:bodyPr>
          <a:lstStyle/>
          <a:p>
            <a:pPr algn="l"/>
            <a:r>
              <a:rPr sz="1100" b="1">
                <a:solidFill>
                  <a:srgbClr val="C93636"/>
                </a:solidFill>
                <a:latin typeface="Calibri"/>
              </a:rPr>
              <a:t>Knytter til: D1, D6</a:t>
            </a:r>
          </a:p>
        </p:txBody>
      </p:sp>
      <p:sp>
        <p:nvSpPr>
          <p:cNvPr id="17" name="Rectangle 16"/>
          <p:cNvSpPr/>
          <p:nvPr/>
        </p:nvSpPr>
        <p:spPr>
          <a:xfrm>
            <a:off x="8229600" y="2286000"/>
            <a:ext cx="3657600" cy="3840480"/>
          </a:xfrm>
          <a:prstGeom prst="rect">
            <a:avLst/>
          </a:prstGeom>
          <a:solidFill>
            <a:srgbClr val="FFFFFF"/>
          </a:solidFill>
          <a:ln>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2286000"/>
            <a:ext cx="3657600" cy="8229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2331720"/>
            <a:ext cx="3657600" cy="777240"/>
          </a:xfrm>
          <a:prstGeom prst="rect">
            <a:avLst/>
          </a:prstGeom>
          <a:noFill/>
        </p:spPr>
        <p:txBody>
          <a:bodyPr wrap="square" lIns="0" rIns="0" tIns="0" bIns="0" anchor="ctr">
            <a:spAutoFit/>
          </a:bodyPr>
          <a:lstStyle/>
          <a:p>
            <a:pPr algn="ctr"/>
            <a:r>
              <a:rPr sz="2200" b="1">
                <a:solidFill>
                  <a:srgbClr val="FFFFFF"/>
                </a:solidFill>
                <a:latin typeface="Calibri"/>
              </a:rPr>
              <a:t>Sammenheng</a:t>
            </a:r>
          </a:p>
        </p:txBody>
      </p:sp>
      <p:sp>
        <p:nvSpPr>
          <p:cNvPr id="20" name="TextBox 19"/>
          <p:cNvSpPr txBox="1"/>
          <p:nvPr/>
        </p:nvSpPr>
        <p:spPr>
          <a:xfrm>
            <a:off x="8503920" y="3383280"/>
            <a:ext cx="3108960" cy="1828800"/>
          </a:xfrm>
          <a:prstGeom prst="rect">
            <a:avLst/>
          </a:prstGeom>
          <a:noFill/>
        </p:spPr>
        <p:txBody>
          <a:bodyPr wrap="square" lIns="0" rIns="0" tIns="0" bIns="0" anchor="t">
            <a:spAutoFit/>
          </a:bodyPr>
          <a:lstStyle/>
          <a:p>
            <a:pPr algn="l"/>
            <a:r>
              <a:rPr sz="1400" b="0">
                <a:solidFill>
                  <a:srgbClr val="1F2A37"/>
                </a:solidFill>
                <a:latin typeface="Calibri"/>
              </a:rPr>
              <a:t>Stegene er ikke koblet for konsistent og oppdatert info.</a:t>
            </a:r>
          </a:p>
        </p:txBody>
      </p:sp>
      <p:sp>
        <p:nvSpPr>
          <p:cNvPr id="21" name="TextBox 20"/>
          <p:cNvSpPr txBox="1"/>
          <p:nvPr/>
        </p:nvSpPr>
        <p:spPr>
          <a:xfrm>
            <a:off x="8503920" y="5486400"/>
            <a:ext cx="3108960" cy="457200"/>
          </a:xfrm>
          <a:prstGeom prst="rect">
            <a:avLst/>
          </a:prstGeom>
          <a:noFill/>
        </p:spPr>
        <p:txBody>
          <a:bodyPr wrap="square" lIns="0" rIns="0" tIns="0" bIns="0" anchor="t">
            <a:spAutoFit/>
          </a:bodyPr>
          <a:lstStyle/>
          <a:p>
            <a:pPr algn="l"/>
            <a:r>
              <a:rPr sz="1100" b="1">
                <a:solidFill>
                  <a:srgbClr val="C93636"/>
                </a:solidFill>
                <a:latin typeface="Calibri"/>
              </a:rPr>
              <a:t>Knytter til: D3, D4, D5</a:t>
            </a:r>
          </a:p>
        </p:txBody>
      </p:sp>
      <p:sp>
        <p:nvSpPr>
          <p:cNvPr id="22" name="TextBox 21"/>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23" name="TextBox 22"/>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04 · HELHETLIG ANALYSE</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Hvorfor utfordringene må sees samlet</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94560"/>
            <a:ext cx="548640" cy="109728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94560"/>
            <a:ext cx="548640" cy="1097280"/>
          </a:xfrm>
          <a:prstGeom prst="rect">
            <a:avLst/>
          </a:prstGeom>
          <a:noFill/>
        </p:spPr>
        <p:txBody>
          <a:bodyPr wrap="square" lIns="0" rIns="0" tIns="0" bIns="0" anchor="ctr">
            <a:spAutoFit/>
          </a:bodyPr>
          <a:lstStyle/>
          <a:p>
            <a:pPr algn="ctr"/>
            <a:r>
              <a:rPr sz="2800" b="1">
                <a:solidFill>
                  <a:srgbClr val="FFFFFF"/>
                </a:solidFill>
                <a:latin typeface="Calibri"/>
              </a:rPr>
              <a:t>1</a:t>
            </a:r>
          </a:p>
        </p:txBody>
      </p:sp>
      <p:sp>
        <p:nvSpPr>
          <p:cNvPr id="9" name="Rectangle 8"/>
          <p:cNvSpPr/>
          <p:nvPr/>
        </p:nvSpPr>
        <p:spPr>
          <a:xfrm>
            <a:off x="1097280" y="2194560"/>
            <a:ext cx="10515600"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331720"/>
            <a:ext cx="10058400" cy="411480"/>
          </a:xfrm>
          <a:prstGeom prst="rect">
            <a:avLst/>
          </a:prstGeom>
          <a:noFill/>
        </p:spPr>
        <p:txBody>
          <a:bodyPr wrap="square" lIns="0" rIns="0" tIns="0" bIns="0" anchor="t">
            <a:spAutoFit/>
          </a:bodyPr>
          <a:lstStyle/>
          <a:p>
            <a:pPr algn="l"/>
            <a:r>
              <a:rPr sz="1800" b="1">
                <a:solidFill>
                  <a:srgbClr val="003366"/>
                </a:solidFill>
                <a:latin typeface="Calibri"/>
              </a:rPr>
              <a:t>Forsterker hverandre</a:t>
            </a:r>
          </a:p>
        </p:txBody>
      </p:sp>
      <p:sp>
        <p:nvSpPr>
          <p:cNvPr id="11" name="TextBox 10"/>
          <p:cNvSpPr txBox="1"/>
          <p:nvPr/>
        </p:nvSpPr>
        <p:spPr>
          <a:xfrm>
            <a:off x="1371600" y="2788920"/>
            <a:ext cx="10058400" cy="457200"/>
          </a:xfrm>
          <a:prstGeom prst="rect">
            <a:avLst/>
          </a:prstGeom>
          <a:noFill/>
        </p:spPr>
        <p:txBody>
          <a:bodyPr wrap="square" lIns="0" rIns="0" tIns="0" bIns="0" anchor="t">
            <a:spAutoFit/>
          </a:bodyPr>
          <a:lstStyle/>
          <a:p>
            <a:pPr algn="l"/>
            <a:r>
              <a:rPr sz="1300" b="0">
                <a:solidFill>
                  <a:srgbClr val="1F2A37"/>
                </a:solidFill>
                <a:latin typeface="Calibri"/>
              </a:rPr>
              <a:t>Flaskehalsene henger sammen. Symptombehandling gir begrenset effekt.</a:t>
            </a:r>
          </a:p>
        </p:txBody>
      </p:sp>
      <p:sp>
        <p:nvSpPr>
          <p:cNvPr id="12" name="Rectangle 11"/>
          <p:cNvSpPr/>
          <p:nvPr/>
        </p:nvSpPr>
        <p:spPr>
          <a:xfrm>
            <a:off x="548640" y="3520439"/>
            <a:ext cx="548640" cy="109728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39"/>
            <a:ext cx="548640" cy="1097280"/>
          </a:xfrm>
          <a:prstGeom prst="rect">
            <a:avLst/>
          </a:prstGeom>
          <a:noFill/>
        </p:spPr>
        <p:txBody>
          <a:bodyPr wrap="square" lIns="0" rIns="0" tIns="0" bIns="0" anchor="ctr">
            <a:spAutoFit/>
          </a:bodyPr>
          <a:lstStyle/>
          <a:p>
            <a:pPr algn="ctr"/>
            <a:r>
              <a:rPr sz="2800" b="1">
                <a:solidFill>
                  <a:srgbClr val="FFFFFF"/>
                </a:solidFill>
                <a:latin typeface="Calibri"/>
              </a:rPr>
              <a:t>2</a:t>
            </a:r>
          </a:p>
        </p:txBody>
      </p:sp>
      <p:sp>
        <p:nvSpPr>
          <p:cNvPr id="14" name="Rectangle 13"/>
          <p:cNvSpPr/>
          <p:nvPr/>
        </p:nvSpPr>
        <p:spPr>
          <a:xfrm>
            <a:off x="1097280" y="3520439"/>
            <a:ext cx="10515600"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3657599"/>
            <a:ext cx="10058400" cy="411480"/>
          </a:xfrm>
          <a:prstGeom prst="rect">
            <a:avLst/>
          </a:prstGeom>
          <a:noFill/>
        </p:spPr>
        <p:txBody>
          <a:bodyPr wrap="square" lIns="0" rIns="0" tIns="0" bIns="0" anchor="t">
            <a:spAutoFit/>
          </a:bodyPr>
          <a:lstStyle/>
          <a:p>
            <a:pPr algn="l"/>
            <a:r>
              <a:rPr sz="1800" b="1">
                <a:solidFill>
                  <a:srgbClr val="003366"/>
                </a:solidFill>
                <a:latin typeface="Calibri"/>
              </a:rPr>
              <a:t>Krever teknologi + organisasjon</a:t>
            </a:r>
          </a:p>
        </p:txBody>
      </p:sp>
      <p:sp>
        <p:nvSpPr>
          <p:cNvPr id="16" name="TextBox 15"/>
          <p:cNvSpPr txBox="1"/>
          <p:nvPr/>
        </p:nvSpPr>
        <p:spPr>
          <a:xfrm>
            <a:off x="1371600" y="4114799"/>
            <a:ext cx="10058400" cy="457200"/>
          </a:xfrm>
          <a:prstGeom prst="rect">
            <a:avLst/>
          </a:prstGeom>
          <a:noFill/>
        </p:spPr>
        <p:txBody>
          <a:bodyPr wrap="square" lIns="0" rIns="0" tIns="0" bIns="0" anchor="t">
            <a:spAutoFit/>
          </a:bodyPr>
          <a:lstStyle/>
          <a:p>
            <a:pPr algn="l"/>
            <a:r>
              <a:rPr sz="1300" b="0">
                <a:solidFill>
                  <a:srgbClr val="1F2A37"/>
                </a:solidFill>
                <a:latin typeface="Calibri"/>
              </a:rPr>
              <a:t>R2–R4, R6 er teknisk-prosessuelle. R1 og R5 er organisatorisk-politiske.</a:t>
            </a:r>
          </a:p>
        </p:txBody>
      </p:sp>
      <p:sp>
        <p:nvSpPr>
          <p:cNvPr id="17" name="Rectangle 16"/>
          <p:cNvSpPr/>
          <p:nvPr/>
        </p:nvSpPr>
        <p:spPr>
          <a:xfrm>
            <a:off x="548640" y="4846320"/>
            <a:ext cx="548640" cy="109728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846320"/>
            <a:ext cx="548640" cy="1097280"/>
          </a:xfrm>
          <a:prstGeom prst="rect">
            <a:avLst/>
          </a:prstGeom>
          <a:noFill/>
        </p:spPr>
        <p:txBody>
          <a:bodyPr wrap="square" lIns="0" rIns="0" tIns="0" bIns="0" anchor="ctr">
            <a:spAutoFit/>
          </a:bodyPr>
          <a:lstStyle/>
          <a:p>
            <a:pPr algn="ctr"/>
            <a:r>
              <a:rPr sz="2800" b="1">
                <a:solidFill>
                  <a:srgbClr val="FFFFFF"/>
                </a:solidFill>
                <a:latin typeface="Calibri"/>
              </a:rPr>
              <a:t>3</a:t>
            </a:r>
          </a:p>
        </p:txBody>
      </p:sp>
      <p:sp>
        <p:nvSpPr>
          <p:cNvPr id="19" name="Rectangle 18"/>
          <p:cNvSpPr/>
          <p:nvPr/>
        </p:nvSpPr>
        <p:spPr>
          <a:xfrm>
            <a:off x="1097280" y="4846320"/>
            <a:ext cx="10515600"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4983480"/>
            <a:ext cx="10058400" cy="411480"/>
          </a:xfrm>
          <a:prstGeom prst="rect">
            <a:avLst/>
          </a:prstGeom>
          <a:noFill/>
        </p:spPr>
        <p:txBody>
          <a:bodyPr wrap="square" lIns="0" rIns="0" tIns="0" bIns="0" anchor="t">
            <a:spAutoFit/>
          </a:bodyPr>
          <a:lstStyle/>
          <a:p>
            <a:pPr algn="l"/>
            <a:r>
              <a:rPr sz="1800" b="1">
                <a:solidFill>
                  <a:srgbClr val="003366"/>
                </a:solidFill>
                <a:latin typeface="Calibri"/>
              </a:rPr>
              <a:t>Selvforsterkende konsekvens</a:t>
            </a:r>
          </a:p>
        </p:txBody>
      </p:sp>
      <p:sp>
        <p:nvSpPr>
          <p:cNvPr id="21" name="TextBox 20"/>
          <p:cNvSpPr txBox="1"/>
          <p:nvPr/>
        </p:nvSpPr>
        <p:spPr>
          <a:xfrm>
            <a:off x="1371600" y="5440680"/>
            <a:ext cx="10058400" cy="457200"/>
          </a:xfrm>
          <a:prstGeom prst="rect">
            <a:avLst/>
          </a:prstGeom>
          <a:noFill/>
        </p:spPr>
        <p:txBody>
          <a:bodyPr wrap="square" lIns="0" rIns="0" tIns="0" bIns="0" anchor="t">
            <a:spAutoFit/>
          </a:bodyPr>
          <a:lstStyle/>
          <a:p>
            <a:pPr algn="l"/>
            <a:r>
              <a:rPr sz="1300" b="0">
                <a:solidFill>
                  <a:srgbClr val="1F2A37"/>
                </a:solidFill>
                <a:latin typeface="Calibri"/>
              </a:rPr>
              <a:t>Jo lengre det varer, jo vanskeligere blir det å gjenvinne offentlig sektors rolle.</a:t>
            </a:r>
          </a:p>
        </p:txBody>
      </p:sp>
      <p:sp>
        <p:nvSpPr>
          <p:cNvPr id="22" name="TextBox 21"/>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23" name="TextBox 22"/>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05 · KONSEKVENSER</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Hvis vi viderefører dagens praksis</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94560"/>
            <a:ext cx="5394960" cy="1645920"/>
          </a:xfrm>
          <a:prstGeom prst="rect">
            <a:avLst/>
          </a:prstGeom>
          <a:solidFill>
            <a:srgbClr val="FFFFFF"/>
          </a:solidFill>
          <a:ln>
            <a:solidFill>
              <a:srgbClr val="C9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194560"/>
            <a:ext cx="137160" cy="164592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4846320" cy="502920"/>
          </a:xfrm>
          <a:prstGeom prst="rect">
            <a:avLst/>
          </a:prstGeom>
          <a:noFill/>
        </p:spPr>
        <p:txBody>
          <a:bodyPr wrap="square" lIns="0" rIns="0" tIns="0" bIns="0" anchor="t">
            <a:spAutoFit/>
          </a:bodyPr>
          <a:lstStyle/>
          <a:p>
            <a:pPr algn="l"/>
            <a:r>
              <a:rPr sz="1800" b="1">
                <a:solidFill>
                  <a:srgbClr val="003366"/>
                </a:solidFill>
                <a:latin typeface="Calibri"/>
              </a:rPr>
              <a:t>Kunnskaps­gapet øker</a:t>
            </a:r>
          </a:p>
        </p:txBody>
      </p:sp>
      <p:sp>
        <p:nvSpPr>
          <p:cNvPr id="10" name="TextBox 9"/>
          <p:cNvSpPr txBox="1"/>
          <p:nvPr/>
        </p:nvSpPr>
        <p:spPr>
          <a:xfrm>
            <a:off x="914400" y="2971800"/>
            <a:ext cx="4846320" cy="777240"/>
          </a:xfrm>
          <a:prstGeom prst="rect">
            <a:avLst/>
          </a:prstGeom>
          <a:noFill/>
        </p:spPr>
        <p:txBody>
          <a:bodyPr wrap="square" lIns="0" rIns="0" tIns="0" bIns="0" anchor="t">
            <a:spAutoFit/>
          </a:bodyPr>
          <a:lstStyle/>
          <a:p>
            <a:pPr algn="l"/>
            <a:r>
              <a:rPr sz="1300" b="0">
                <a:solidFill>
                  <a:srgbClr val="1F2A37"/>
                </a:solidFill>
                <a:latin typeface="Calibri"/>
              </a:rPr>
              <a:t>Akselererende forskning, statisk kapasitet.</a:t>
            </a:r>
          </a:p>
        </p:txBody>
      </p:sp>
      <p:sp>
        <p:nvSpPr>
          <p:cNvPr id="11" name="Rectangle 10"/>
          <p:cNvSpPr/>
          <p:nvPr/>
        </p:nvSpPr>
        <p:spPr>
          <a:xfrm>
            <a:off x="6217920" y="2194560"/>
            <a:ext cx="5394960" cy="1645920"/>
          </a:xfrm>
          <a:prstGeom prst="rect">
            <a:avLst/>
          </a:prstGeom>
          <a:solidFill>
            <a:srgbClr val="FFFFFF"/>
          </a:solidFill>
          <a:ln>
            <a:solidFill>
              <a:srgbClr val="C9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194560"/>
            <a:ext cx="137160" cy="164592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423160"/>
            <a:ext cx="4846320" cy="502920"/>
          </a:xfrm>
          <a:prstGeom prst="rect">
            <a:avLst/>
          </a:prstGeom>
          <a:noFill/>
        </p:spPr>
        <p:txBody>
          <a:bodyPr wrap="square" lIns="0" rIns="0" tIns="0" bIns="0" anchor="t">
            <a:spAutoFit/>
          </a:bodyPr>
          <a:lstStyle/>
          <a:p>
            <a:pPr algn="l"/>
            <a:r>
              <a:rPr sz="1800" b="1">
                <a:solidFill>
                  <a:srgbClr val="003366"/>
                </a:solidFill>
                <a:latin typeface="Calibri"/>
              </a:rPr>
              <a:t>Kommersiell KI tar over</a:t>
            </a:r>
          </a:p>
        </p:txBody>
      </p:sp>
      <p:sp>
        <p:nvSpPr>
          <p:cNvPr id="14" name="TextBox 13"/>
          <p:cNvSpPr txBox="1"/>
          <p:nvPr/>
        </p:nvSpPr>
        <p:spPr>
          <a:xfrm>
            <a:off x="6583680" y="2971800"/>
            <a:ext cx="4846320" cy="777240"/>
          </a:xfrm>
          <a:prstGeom prst="rect">
            <a:avLst/>
          </a:prstGeom>
          <a:noFill/>
        </p:spPr>
        <p:txBody>
          <a:bodyPr wrap="square" lIns="0" rIns="0" tIns="0" bIns="0" anchor="t">
            <a:spAutoFit/>
          </a:bodyPr>
          <a:lstStyle/>
          <a:p>
            <a:pPr algn="l"/>
            <a:r>
              <a:rPr sz="1300" b="0">
                <a:solidFill>
                  <a:srgbClr val="1F2A37"/>
                </a:solidFill>
                <a:latin typeface="Calibri"/>
              </a:rPr>
              <a:t>Innbyggere bruker ChatGPT m.fl. uten kvalitetssikring.</a:t>
            </a:r>
          </a:p>
        </p:txBody>
      </p:sp>
      <p:sp>
        <p:nvSpPr>
          <p:cNvPr id="15" name="Rectangle 14"/>
          <p:cNvSpPr/>
          <p:nvPr/>
        </p:nvSpPr>
        <p:spPr>
          <a:xfrm>
            <a:off x="548640" y="4114800"/>
            <a:ext cx="5394960" cy="1645920"/>
          </a:xfrm>
          <a:prstGeom prst="rect">
            <a:avLst/>
          </a:prstGeom>
          <a:solidFill>
            <a:srgbClr val="FFFFFF"/>
          </a:solidFill>
          <a:ln>
            <a:solidFill>
              <a:srgbClr val="C9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114800"/>
            <a:ext cx="137160" cy="164592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4846320" cy="502920"/>
          </a:xfrm>
          <a:prstGeom prst="rect">
            <a:avLst/>
          </a:prstGeom>
          <a:noFill/>
        </p:spPr>
        <p:txBody>
          <a:bodyPr wrap="square" lIns="0" rIns="0" tIns="0" bIns="0" anchor="t">
            <a:spAutoFit/>
          </a:bodyPr>
          <a:lstStyle/>
          <a:p>
            <a:pPr algn="l"/>
            <a:r>
              <a:rPr sz="1800" b="1">
                <a:solidFill>
                  <a:srgbClr val="003366"/>
                </a:solidFill>
                <a:latin typeface="Calibri"/>
              </a:rPr>
              <a:t>Regulatorisk etterslep</a:t>
            </a:r>
          </a:p>
        </p:txBody>
      </p:sp>
      <p:sp>
        <p:nvSpPr>
          <p:cNvPr id="18" name="TextBox 17"/>
          <p:cNvSpPr txBox="1"/>
          <p:nvPr/>
        </p:nvSpPr>
        <p:spPr>
          <a:xfrm>
            <a:off x="914400" y="4892040"/>
            <a:ext cx="4846320" cy="777240"/>
          </a:xfrm>
          <a:prstGeom prst="rect">
            <a:avLst/>
          </a:prstGeom>
          <a:noFill/>
        </p:spPr>
        <p:txBody>
          <a:bodyPr wrap="square" lIns="0" rIns="0" tIns="0" bIns="0" anchor="t">
            <a:spAutoFit/>
          </a:bodyPr>
          <a:lstStyle/>
          <a:p>
            <a:pPr algn="l"/>
            <a:r>
              <a:rPr sz="1300" b="0">
                <a:solidFill>
                  <a:srgbClr val="1F2A37"/>
                </a:solidFill>
                <a:latin typeface="Calibri"/>
              </a:rPr>
              <a:t>EHDS og EU AI Act forutsetter modenhet vi ikke har.</a:t>
            </a:r>
          </a:p>
        </p:txBody>
      </p:sp>
      <p:sp>
        <p:nvSpPr>
          <p:cNvPr id="19" name="Rectangle 18"/>
          <p:cNvSpPr/>
          <p:nvPr/>
        </p:nvSpPr>
        <p:spPr>
          <a:xfrm>
            <a:off x="6217920" y="4114800"/>
            <a:ext cx="5394960" cy="1645920"/>
          </a:xfrm>
          <a:prstGeom prst="rect">
            <a:avLst/>
          </a:prstGeom>
          <a:solidFill>
            <a:srgbClr val="FFFFFF"/>
          </a:solidFill>
          <a:ln>
            <a:solidFill>
              <a:srgbClr val="C9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4114800"/>
            <a:ext cx="137160" cy="164592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4343400"/>
            <a:ext cx="4846320" cy="502920"/>
          </a:xfrm>
          <a:prstGeom prst="rect">
            <a:avLst/>
          </a:prstGeom>
          <a:noFill/>
        </p:spPr>
        <p:txBody>
          <a:bodyPr wrap="square" lIns="0" rIns="0" tIns="0" bIns="0" anchor="t">
            <a:spAutoFit/>
          </a:bodyPr>
          <a:lstStyle/>
          <a:p>
            <a:pPr algn="l"/>
            <a:r>
              <a:rPr sz="1800" b="1">
                <a:solidFill>
                  <a:srgbClr val="003366"/>
                </a:solidFill>
                <a:latin typeface="Calibri"/>
              </a:rPr>
              <a:t>Tillitserosjon</a:t>
            </a:r>
          </a:p>
        </p:txBody>
      </p:sp>
      <p:sp>
        <p:nvSpPr>
          <p:cNvPr id="22" name="TextBox 21"/>
          <p:cNvSpPr txBox="1"/>
          <p:nvPr/>
        </p:nvSpPr>
        <p:spPr>
          <a:xfrm>
            <a:off x="6583680" y="4892040"/>
            <a:ext cx="4846320" cy="777240"/>
          </a:xfrm>
          <a:prstGeom prst="rect">
            <a:avLst/>
          </a:prstGeom>
          <a:noFill/>
        </p:spPr>
        <p:txBody>
          <a:bodyPr wrap="square" lIns="0" rIns="0" tIns="0" bIns="0" anchor="t">
            <a:spAutoFit/>
          </a:bodyPr>
          <a:lstStyle/>
          <a:p>
            <a:pPr algn="l"/>
            <a:r>
              <a:rPr sz="1300" b="0">
                <a:solidFill>
                  <a:srgbClr val="1F2A37"/>
                </a:solidFill>
                <a:latin typeface="Calibri"/>
              </a:rPr>
              <a:t>Utdatert offentlig info undergraver helsemyndighetenes legitimitet.</a:t>
            </a:r>
          </a:p>
        </p:txBody>
      </p:sp>
      <p:sp>
        <p:nvSpPr>
          <p:cNvPr id="23" name="TextBox 22"/>
          <p:cNvSpPr txBox="1"/>
          <p:nvPr/>
        </p:nvSpPr>
        <p:spPr>
          <a:xfrm>
            <a:off x="548640" y="6126480"/>
            <a:ext cx="11064240" cy="365760"/>
          </a:xfrm>
          <a:prstGeom prst="rect">
            <a:avLst/>
          </a:prstGeom>
          <a:noFill/>
        </p:spPr>
        <p:txBody>
          <a:bodyPr wrap="square" lIns="0" rIns="0" tIns="0" bIns="0" anchor="t">
            <a:spAutoFit/>
          </a:bodyPr>
          <a:lstStyle/>
          <a:p>
            <a:pPr algn="l"/>
            <a:r>
              <a:rPr sz="1200" b="1">
                <a:solidFill>
                  <a:srgbClr val="C93636"/>
                </a:solidFill>
                <a:latin typeface="Calibri"/>
              </a:rPr>
              <a:t>Tidshorisont: 3–5 år (delrapport 7 kap. 4.3)</a:t>
            </a:r>
          </a:p>
        </p:txBody>
      </p:sp>
      <p:sp>
        <p:nvSpPr>
          <p:cNvPr id="24" name="TextBox 23"/>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25" name="TextBox 24"/>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06 · ROTÅRSAKER</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Seks rotårsaker bak utfordringene</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03120"/>
            <a:ext cx="5394960" cy="10515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40280"/>
            <a:ext cx="822960" cy="777240"/>
          </a:xfrm>
          <a:prstGeom prst="rect">
            <a:avLst/>
          </a:prstGeom>
          <a:noFill/>
        </p:spPr>
        <p:txBody>
          <a:bodyPr wrap="square" lIns="0" rIns="0" tIns="0" bIns="0" anchor="ctr">
            <a:spAutoFit/>
          </a:bodyPr>
          <a:lstStyle/>
          <a:p>
            <a:pPr algn="l"/>
            <a:r>
              <a:rPr sz="2600" b="1">
                <a:solidFill>
                  <a:srgbClr val="C93636"/>
                </a:solidFill>
                <a:latin typeface="Calibri"/>
              </a:rPr>
              <a:t>R1</a:t>
            </a:r>
          </a:p>
        </p:txBody>
      </p:sp>
      <p:sp>
        <p:nvSpPr>
          <p:cNvPr id="9" name="TextBox 8"/>
          <p:cNvSpPr txBox="1"/>
          <p:nvPr/>
        </p:nvSpPr>
        <p:spPr>
          <a:xfrm>
            <a:off x="1691640" y="2286000"/>
            <a:ext cx="3657600" cy="685800"/>
          </a:xfrm>
          <a:prstGeom prst="rect">
            <a:avLst/>
          </a:prstGeom>
          <a:noFill/>
        </p:spPr>
        <p:txBody>
          <a:bodyPr wrap="square" lIns="0" rIns="0" tIns="0" bIns="0" anchor="ctr">
            <a:spAutoFit/>
          </a:bodyPr>
          <a:lstStyle/>
          <a:p>
            <a:pPr algn="l"/>
            <a:r>
              <a:rPr sz="1300" b="1">
                <a:solidFill>
                  <a:srgbClr val="FFFFFF"/>
                </a:solidFill>
                <a:latin typeface="Calibri"/>
              </a:rPr>
              <a:t>Manglende helhetlig styringsmandat</a:t>
            </a:r>
          </a:p>
        </p:txBody>
      </p:sp>
      <p:sp>
        <p:nvSpPr>
          <p:cNvPr id="10" name="TextBox 9"/>
          <p:cNvSpPr txBox="1"/>
          <p:nvPr/>
        </p:nvSpPr>
        <p:spPr>
          <a:xfrm>
            <a:off x="5394960" y="2468880"/>
            <a:ext cx="502920" cy="365760"/>
          </a:xfrm>
          <a:prstGeom prst="rect">
            <a:avLst/>
          </a:prstGeom>
          <a:noFill/>
        </p:spPr>
        <p:txBody>
          <a:bodyPr wrap="square" lIns="0" rIns="0" tIns="0" bIns="0" anchor="t">
            <a:spAutoFit/>
          </a:bodyPr>
          <a:lstStyle/>
          <a:p>
            <a:pPr algn="r"/>
            <a:r>
              <a:rPr sz="1000" b="1">
                <a:solidFill>
                  <a:srgbClr val="C93636"/>
                </a:solidFill>
                <a:latin typeface="Calibri"/>
              </a:rPr>
              <a:t>ORG</a:t>
            </a:r>
          </a:p>
        </p:txBody>
      </p:sp>
      <p:sp>
        <p:nvSpPr>
          <p:cNvPr id="11" name="Rectangle 10"/>
          <p:cNvSpPr/>
          <p:nvPr/>
        </p:nvSpPr>
        <p:spPr>
          <a:xfrm>
            <a:off x="6217920" y="2103120"/>
            <a:ext cx="5394960" cy="1051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240280"/>
            <a:ext cx="822960" cy="777240"/>
          </a:xfrm>
          <a:prstGeom prst="rect">
            <a:avLst/>
          </a:prstGeom>
          <a:noFill/>
        </p:spPr>
        <p:txBody>
          <a:bodyPr wrap="square" lIns="0" rIns="0" tIns="0" bIns="0" anchor="ctr">
            <a:spAutoFit/>
          </a:bodyPr>
          <a:lstStyle/>
          <a:p>
            <a:pPr algn="l"/>
            <a:r>
              <a:rPr sz="2600" b="1">
                <a:solidFill>
                  <a:srgbClr val="C93636"/>
                </a:solidFill>
                <a:latin typeface="Calibri"/>
              </a:rPr>
              <a:t>R2</a:t>
            </a:r>
          </a:p>
        </p:txBody>
      </p:sp>
      <p:sp>
        <p:nvSpPr>
          <p:cNvPr id="13" name="TextBox 12"/>
          <p:cNvSpPr txBox="1"/>
          <p:nvPr/>
        </p:nvSpPr>
        <p:spPr>
          <a:xfrm>
            <a:off x="7360920" y="2286000"/>
            <a:ext cx="3657600" cy="685800"/>
          </a:xfrm>
          <a:prstGeom prst="rect">
            <a:avLst/>
          </a:prstGeom>
          <a:noFill/>
        </p:spPr>
        <p:txBody>
          <a:bodyPr wrap="square" lIns="0" rIns="0" tIns="0" bIns="0" anchor="ctr">
            <a:spAutoFit/>
          </a:bodyPr>
          <a:lstStyle/>
          <a:p>
            <a:pPr algn="l"/>
            <a:r>
              <a:rPr sz="1300" b="1">
                <a:solidFill>
                  <a:srgbClr val="1F2A37"/>
                </a:solidFill>
                <a:latin typeface="Calibri"/>
              </a:rPr>
              <a:t>Verdikjede designet for pre-digital tid</a:t>
            </a:r>
          </a:p>
        </p:txBody>
      </p:sp>
      <p:sp>
        <p:nvSpPr>
          <p:cNvPr id="14" name="TextBox 13"/>
          <p:cNvSpPr txBox="1"/>
          <p:nvPr/>
        </p:nvSpPr>
        <p:spPr>
          <a:xfrm>
            <a:off x="11064240" y="2468880"/>
            <a:ext cx="502920" cy="365760"/>
          </a:xfrm>
          <a:prstGeom prst="rect">
            <a:avLst/>
          </a:prstGeom>
          <a:noFill/>
        </p:spPr>
        <p:txBody>
          <a:bodyPr wrap="square" lIns="0" rIns="0" tIns="0" bIns="0" anchor="t">
            <a:spAutoFit/>
          </a:bodyPr>
          <a:lstStyle/>
          <a:p>
            <a:pPr algn="r"/>
            <a:r>
              <a:rPr sz="1000" b="1">
                <a:solidFill>
                  <a:srgbClr val="C93636"/>
                </a:solidFill>
                <a:latin typeface="Calibri"/>
              </a:rPr>
              <a:t>TEK</a:t>
            </a:r>
          </a:p>
        </p:txBody>
      </p:sp>
      <p:sp>
        <p:nvSpPr>
          <p:cNvPr id="15" name="Rectangle 14"/>
          <p:cNvSpPr/>
          <p:nvPr/>
        </p:nvSpPr>
        <p:spPr>
          <a:xfrm>
            <a:off x="548640" y="3337560"/>
            <a:ext cx="5394960" cy="1051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474720"/>
            <a:ext cx="822960" cy="777240"/>
          </a:xfrm>
          <a:prstGeom prst="rect">
            <a:avLst/>
          </a:prstGeom>
          <a:noFill/>
        </p:spPr>
        <p:txBody>
          <a:bodyPr wrap="square" lIns="0" rIns="0" tIns="0" bIns="0" anchor="ctr">
            <a:spAutoFit/>
          </a:bodyPr>
          <a:lstStyle/>
          <a:p>
            <a:pPr algn="l"/>
            <a:r>
              <a:rPr sz="2600" b="1">
                <a:solidFill>
                  <a:srgbClr val="C93636"/>
                </a:solidFill>
                <a:latin typeface="Calibri"/>
              </a:rPr>
              <a:t>R3</a:t>
            </a:r>
          </a:p>
        </p:txBody>
      </p:sp>
      <p:sp>
        <p:nvSpPr>
          <p:cNvPr id="17" name="TextBox 16"/>
          <p:cNvSpPr txBox="1"/>
          <p:nvPr/>
        </p:nvSpPr>
        <p:spPr>
          <a:xfrm>
            <a:off x="1691640" y="3520440"/>
            <a:ext cx="3657600" cy="685800"/>
          </a:xfrm>
          <a:prstGeom prst="rect">
            <a:avLst/>
          </a:prstGeom>
          <a:noFill/>
        </p:spPr>
        <p:txBody>
          <a:bodyPr wrap="square" lIns="0" rIns="0" tIns="0" bIns="0" anchor="ctr">
            <a:spAutoFit/>
          </a:bodyPr>
          <a:lstStyle/>
          <a:p>
            <a:pPr algn="l"/>
            <a:r>
              <a:rPr sz="1300" b="1">
                <a:solidFill>
                  <a:srgbClr val="1F2A37"/>
                </a:solidFill>
                <a:latin typeface="Calibri"/>
              </a:rPr>
              <a:t>Kapasitet skalerer ikke med forskningsvolum</a:t>
            </a:r>
          </a:p>
        </p:txBody>
      </p:sp>
      <p:sp>
        <p:nvSpPr>
          <p:cNvPr id="18" name="TextBox 17"/>
          <p:cNvSpPr txBox="1"/>
          <p:nvPr/>
        </p:nvSpPr>
        <p:spPr>
          <a:xfrm>
            <a:off x="5394960" y="3703320"/>
            <a:ext cx="502920" cy="365760"/>
          </a:xfrm>
          <a:prstGeom prst="rect">
            <a:avLst/>
          </a:prstGeom>
          <a:noFill/>
        </p:spPr>
        <p:txBody>
          <a:bodyPr wrap="square" lIns="0" rIns="0" tIns="0" bIns="0" anchor="t">
            <a:spAutoFit/>
          </a:bodyPr>
          <a:lstStyle/>
          <a:p>
            <a:pPr algn="r"/>
            <a:r>
              <a:rPr sz="1000" b="1">
                <a:solidFill>
                  <a:srgbClr val="C93636"/>
                </a:solidFill>
                <a:latin typeface="Calibri"/>
              </a:rPr>
              <a:t>TEK</a:t>
            </a:r>
          </a:p>
        </p:txBody>
      </p:sp>
      <p:sp>
        <p:nvSpPr>
          <p:cNvPr id="19" name="Rectangle 18"/>
          <p:cNvSpPr/>
          <p:nvPr/>
        </p:nvSpPr>
        <p:spPr>
          <a:xfrm>
            <a:off x="6217920" y="3337560"/>
            <a:ext cx="5394960" cy="1051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474720"/>
            <a:ext cx="822960" cy="777240"/>
          </a:xfrm>
          <a:prstGeom prst="rect">
            <a:avLst/>
          </a:prstGeom>
          <a:noFill/>
        </p:spPr>
        <p:txBody>
          <a:bodyPr wrap="square" lIns="0" rIns="0" tIns="0" bIns="0" anchor="ctr">
            <a:spAutoFit/>
          </a:bodyPr>
          <a:lstStyle/>
          <a:p>
            <a:pPr algn="l"/>
            <a:r>
              <a:rPr sz="2600" b="1">
                <a:solidFill>
                  <a:srgbClr val="C93636"/>
                </a:solidFill>
                <a:latin typeface="Calibri"/>
              </a:rPr>
              <a:t>R4</a:t>
            </a:r>
          </a:p>
        </p:txBody>
      </p:sp>
      <p:sp>
        <p:nvSpPr>
          <p:cNvPr id="21" name="TextBox 20"/>
          <p:cNvSpPr txBox="1"/>
          <p:nvPr/>
        </p:nvSpPr>
        <p:spPr>
          <a:xfrm>
            <a:off x="7360920" y="3520440"/>
            <a:ext cx="3657600" cy="685800"/>
          </a:xfrm>
          <a:prstGeom prst="rect">
            <a:avLst/>
          </a:prstGeom>
          <a:noFill/>
        </p:spPr>
        <p:txBody>
          <a:bodyPr wrap="square" lIns="0" rIns="0" tIns="0" bIns="0" anchor="ctr">
            <a:spAutoFit/>
          </a:bodyPr>
          <a:lstStyle/>
          <a:p>
            <a:pPr algn="l"/>
            <a:r>
              <a:rPr sz="1300" b="1">
                <a:solidFill>
                  <a:srgbClr val="1F2A37"/>
                </a:solidFill>
                <a:latin typeface="Calibri"/>
              </a:rPr>
              <a:t>Fragmentert IT-landskap og ulike kodeverk</a:t>
            </a:r>
          </a:p>
        </p:txBody>
      </p:sp>
      <p:sp>
        <p:nvSpPr>
          <p:cNvPr id="22" name="TextBox 21"/>
          <p:cNvSpPr txBox="1"/>
          <p:nvPr/>
        </p:nvSpPr>
        <p:spPr>
          <a:xfrm>
            <a:off x="11064240" y="3703320"/>
            <a:ext cx="502920" cy="365760"/>
          </a:xfrm>
          <a:prstGeom prst="rect">
            <a:avLst/>
          </a:prstGeom>
          <a:noFill/>
        </p:spPr>
        <p:txBody>
          <a:bodyPr wrap="square" lIns="0" rIns="0" tIns="0" bIns="0" anchor="t">
            <a:spAutoFit/>
          </a:bodyPr>
          <a:lstStyle/>
          <a:p>
            <a:pPr algn="r"/>
            <a:r>
              <a:rPr sz="1000" b="1">
                <a:solidFill>
                  <a:srgbClr val="C93636"/>
                </a:solidFill>
                <a:latin typeface="Calibri"/>
              </a:rPr>
              <a:t>TEK</a:t>
            </a:r>
          </a:p>
        </p:txBody>
      </p:sp>
      <p:sp>
        <p:nvSpPr>
          <p:cNvPr id="23" name="Rectangle 22"/>
          <p:cNvSpPr/>
          <p:nvPr/>
        </p:nvSpPr>
        <p:spPr>
          <a:xfrm>
            <a:off x="548640" y="4572000"/>
            <a:ext cx="5394960" cy="10515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709160"/>
            <a:ext cx="822960" cy="777240"/>
          </a:xfrm>
          <a:prstGeom prst="rect">
            <a:avLst/>
          </a:prstGeom>
          <a:noFill/>
        </p:spPr>
        <p:txBody>
          <a:bodyPr wrap="square" lIns="0" rIns="0" tIns="0" bIns="0" anchor="ctr">
            <a:spAutoFit/>
          </a:bodyPr>
          <a:lstStyle/>
          <a:p>
            <a:pPr algn="l"/>
            <a:r>
              <a:rPr sz="2600" b="1">
                <a:solidFill>
                  <a:srgbClr val="C93636"/>
                </a:solidFill>
                <a:latin typeface="Calibri"/>
              </a:rPr>
              <a:t>R5</a:t>
            </a:r>
          </a:p>
        </p:txBody>
      </p:sp>
      <p:sp>
        <p:nvSpPr>
          <p:cNvPr id="25" name="TextBox 24"/>
          <p:cNvSpPr txBox="1"/>
          <p:nvPr/>
        </p:nvSpPr>
        <p:spPr>
          <a:xfrm>
            <a:off x="1691640" y="4754880"/>
            <a:ext cx="3657600" cy="685800"/>
          </a:xfrm>
          <a:prstGeom prst="rect">
            <a:avLst/>
          </a:prstGeom>
          <a:noFill/>
        </p:spPr>
        <p:txBody>
          <a:bodyPr wrap="square" lIns="0" rIns="0" tIns="0" bIns="0" anchor="ctr">
            <a:spAutoFit/>
          </a:bodyPr>
          <a:lstStyle/>
          <a:p>
            <a:pPr algn="l"/>
            <a:r>
              <a:rPr sz="1300" b="1">
                <a:solidFill>
                  <a:srgbClr val="FFFFFF"/>
                </a:solidFill>
                <a:latin typeface="Calibri"/>
              </a:rPr>
              <a:t>Manglende insentiver og eierskap for implementering</a:t>
            </a:r>
          </a:p>
        </p:txBody>
      </p:sp>
      <p:sp>
        <p:nvSpPr>
          <p:cNvPr id="26" name="TextBox 25"/>
          <p:cNvSpPr txBox="1"/>
          <p:nvPr/>
        </p:nvSpPr>
        <p:spPr>
          <a:xfrm>
            <a:off x="5394960" y="4937760"/>
            <a:ext cx="502920" cy="365760"/>
          </a:xfrm>
          <a:prstGeom prst="rect">
            <a:avLst/>
          </a:prstGeom>
          <a:noFill/>
        </p:spPr>
        <p:txBody>
          <a:bodyPr wrap="square" lIns="0" rIns="0" tIns="0" bIns="0" anchor="t">
            <a:spAutoFit/>
          </a:bodyPr>
          <a:lstStyle/>
          <a:p>
            <a:pPr algn="r"/>
            <a:r>
              <a:rPr sz="1000" b="1">
                <a:solidFill>
                  <a:srgbClr val="C93636"/>
                </a:solidFill>
                <a:latin typeface="Calibri"/>
              </a:rPr>
              <a:t>ORG</a:t>
            </a:r>
          </a:p>
        </p:txBody>
      </p:sp>
      <p:sp>
        <p:nvSpPr>
          <p:cNvPr id="27" name="Rectangle 26"/>
          <p:cNvSpPr/>
          <p:nvPr/>
        </p:nvSpPr>
        <p:spPr>
          <a:xfrm>
            <a:off x="6217920" y="4572000"/>
            <a:ext cx="5394960" cy="1051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709160"/>
            <a:ext cx="822960" cy="777240"/>
          </a:xfrm>
          <a:prstGeom prst="rect">
            <a:avLst/>
          </a:prstGeom>
          <a:noFill/>
        </p:spPr>
        <p:txBody>
          <a:bodyPr wrap="square" lIns="0" rIns="0" tIns="0" bIns="0" anchor="ctr">
            <a:spAutoFit/>
          </a:bodyPr>
          <a:lstStyle/>
          <a:p>
            <a:pPr algn="l"/>
            <a:r>
              <a:rPr sz="2600" b="1">
                <a:solidFill>
                  <a:srgbClr val="C93636"/>
                </a:solidFill>
                <a:latin typeface="Calibri"/>
              </a:rPr>
              <a:t>R6</a:t>
            </a:r>
          </a:p>
        </p:txBody>
      </p:sp>
      <p:sp>
        <p:nvSpPr>
          <p:cNvPr id="29" name="TextBox 28"/>
          <p:cNvSpPr txBox="1"/>
          <p:nvPr/>
        </p:nvSpPr>
        <p:spPr>
          <a:xfrm>
            <a:off x="7360920" y="4754880"/>
            <a:ext cx="3657600" cy="685800"/>
          </a:xfrm>
          <a:prstGeom prst="rect">
            <a:avLst/>
          </a:prstGeom>
          <a:noFill/>
        </p:spPr>
        <p:txBody>
          <a:bodyPr wrap="square" lIns="0" rIns="0" tIns="0" bIns="0" anchor="ctr">
            <a:spAutoFit/>
          </a:bodyPr>
          <a:lstStyle/>
          <a:p>
            <a:pPr algn="l"/>
            <a:r>
              <a:rPr sz="1300" b="1">
                <a:solidFill>
                  <a:srgbClr val="1F2A37"/>
                </a:solidFill>
                <a:latin typeface="Calibri"/>
              </a:rPr>
              <a:t>Manglende feedback- og målemekanismer</a:t>
            </a:r>
          </a:p>
        </p:txBody>
      </p:sp>
      <p:sp>
        <p:nvSpPr>
          <p:cNvPr id="30" name="TextBox 29"/>
          <p:cNvSpPr txBox="1"/>
          <p:nvPr/>
        </p:nvSpPr>
        <p:spPr>
          <a:xfrm>
            <a:off x="11064240" y="4937760"/>
            <a:ext cx="502920" cy="365760"/>
          </a:xfrm>
          <a:prstGeom prst="rect">
            <a:avLst/>
          </a:prstGeom>
          <a:noFill/>
        </p:spPr>
        <p:txBody>
          <a:bodyPr wrap="square" lIns="0" rIns="0" tIns="0" bIns="0" anchor="t">
            <a:spAutoFit/>
          </a:bodyPr>
          <a:lstStyle/>
          <a:p>
            <a:pPr algn="r"/>
            <a:r>
              <a:rPr sz="1000" b="1">
                <a:solidFill>
                  <a:srgbClr val="C93636"/>
                </a:solidFill>
                <a:latin typeface="Calibri"/>
              </a:rPr>
              <a:t>TEK</a:t>
            </a:r>
          </a:p>
        </p:txBody>
      </p:sp>
      <p:sp>
        <p:nvSpPr>
          <p:cNvPr id="31" name="TextBox 30"/>
          <p:cNvSpPr txBox="1"/>
          <p:nvPr/>
        </p:nvSpPr>
        <p:spPr>
          <a:xfrm>
            <a:off x="548640" y="6035040"/>
            <a:ext cx="11064240" cy="365760"/>
          </a:xfrm>
          <a:prstGeom prst="rect">
            <a:avLst/>
          </a:prstGeom>
          <a:noFill/>
        </p:spPr>
        <p:txBody>
          <a:bodyPr wrap="square" lIns="0" rIns="0" tIns="0" bIns="0" anchor="t">
            <a:spAutoFit/>
          </a:bodyPr>
          <a:lstStyle/>
          <a:p>
            <a:pPr algn="l"/>
            <a:r>
              <a:rPr sz="1100" b="0">
                <a:solidFill>
                  <a:srgbClr val="556070"/>
                </a:solidFill>
                <a:latin typeface="Calibri"/>
              </a:rPr>
              <a:t>ORG = organisatorisk-politisk      TEK = teknisk-prosessuell</a:t>
            </a:r>
          </a:p>
        </p:txBody>
      </p:sp>
      <p:sp>
        <p:nvSpPr>
          <p:cNvPr id="32" name="TextBox 31"/>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33" name="TextBox 32"/>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07 · DEKNING</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Hva alternativene dekker – og ikke</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03120"/>
            <a:ext cx="10972800" cy="365760"/>
          </a:xfrm>
          <a:prstGeom prst="rect">
            <a:avLst/>
          </a:prstGeom>
          <a:noFill/>
        </p:spPr>
        <p:txBody>
          <a:bodyPr wrap="square" lIns="0" rIns="0" tIns="0" bIns="0" anchor="t">
            <a:spAutoFit/>
          </a:bodyPr>
          <a:lstStyle/>
          <a:p>
            <a:pPr algn="l"/>
            <a:r>
              <a:rPr sz="1400" b="1">
                <a:solidFill>
                  <a:srgbClr val="003366"/>
                </a:solidFill>
                <a:latin typeface="Calibri"/>
              </a:rPr>
              <a:t>Dekning av rotårsaker per alternativ (delrapport 4)</a:t>
            </a:r>
          </a:p>
        </p:txBody>
      </p:sp>
      <p:sp>
        <p:nvSpPr>
          <p:cNvPr id="8" name="Rectangle 7"/>
          <p:cNvSpPr/>
          <p:nvPr/>
        </p:nvSpPr>
        <p:spPr>
          <a:xfrm>
            <a:off x="548640" y="2606040"/>
            <a:ext cx="2468880"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606040"/>
            <a:ext cx="2468880" cy="502920"/>
          </a:xfrm>
          <a:prstGeom prst="rect">
            <a:avLst/>
          </a:prstGeom>
          <a:noFill/>
        </p:spPr>
        <p:txBody>
          <a:bodyPr wrap="square" lIns="0" rIns="0" tIns="0" bIns="0" anchor="ctr">
            <a:spAutoFit/>
          </a:bodyPr>
          <a:lstStyle/>
          <a:p>
            <a:pPr algn="ctr"/>
            <a:r>
              <a:rPr sz="1400" b="1">
                <a:solidFill>
                  <a:srgbClr val="FFFFFF"/>
                </a:solidFill>
                <a:latin typeface="Calibri"/>
              </a:rPr>
              <a:t/>
            </a:r>
          </a:p>
        </p:txBody>
      </p:sp>
      <p:sp>
        <p:nvSpPr>
          <p:cNvPr id="10" name="Rectangle 9"/>
          <p:cNvSpPr/>
          <p:nvPr/>
        </p:nvSpPr>
        <p:spPr>
          <a:xfrm>
            <a:off x="3017520" y="2606040"/>
            <a:ext cx="1371600"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2606040"/>
            <a:ext cx="1371600" cy="502920"/>
          </a:xfrm>
          <a:prstGeom prst="rect">
            <a:avLst/>
          </a:prstGeom>
          <a:noFill/>
        </p:spPr>
        <p:txBody>
          <a:bodyPr wrap="square" lIns="0" rIns="0" tIns="0" bIns="0" anchor="ctr">
            <a:spAutoFit/>
          </a:bodyPr>
          <a:lstStyle/>
          <a:p>
            <a:pPr algn="ctr"/>
            <a:r>
              <a:rPr sz="1400" b="1">
                <a:solidFill>
                  <a:srgbClr val="FFFFFF"/>
                </a:solidFill>
                <a:latin typeface="Calibri"/>
              </a:rPr>
              <a:t>R1</a:t>
            </a:r>
          </a:p>
        </p:txBody>
      </p:sp>
      <p:sp>
        <p:nvSpPr>
          <p:cNvPr id="12" name="Rectangle 11"/>
          <p:cNvSpPr/>
          <p:nvPr/>
        </p:nvSpPr>
        <p:spPr>
          <a:xfrm>
            <a:off x="4389120" y="2606040"/>
            <a:ext cx="1371600"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2606040"/>
            <a:ext cx="1371600" cy="502920"/>
          </a:xfrm>
          <a:prstGeom prst="rect">
            <a:avLst/>
          </a:prstGeom>
          <a:noFill/>
        </p:spPr>
        <p:txBody>
          <a:bodyPr wrap="square" lIns="0" rIns="0" tIns="0" bIns="0" anchor="ctr">
            <a:spAutoFit/>
          </a:bodyPr>
          <a:lstStyle/>
          <a:p>
            <a:pPr algn="ctr"/>
            <a:r>
              <a:rPr sz="1400" b="1">
                <a:solidFill>
                  <a:srgbClr val="FFFFFF"/>
                </a:solidFill>
                <a:latin typeface="Calibri"/>
              </a:rPr>
              <a:t>R2</a:t>
            </a:r>
          </a:p>
        </p:txBody>
      </p:sp>
      <p:sp>
        <p:nvSpPr>
          <p:cNvPr id="14" name="Rectangle 13"/>
          <p:cNvSpPr/>
          <p:nvPr/>
        </p:nvSpPr>
        <p:spPr>
          <a:xfrm>
            <a:off x="5760720" y="2606040"/>
            <a:ext cx="1371600"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0" y="2606040"/>
            <a:ext cx="1371600" cy="502920"/>
          </a:xfrm>
          <a:prstGeom prst="rect">
            <a:avLst/>
          </a:prstGeom>
          <a:noFill/>
        </p:spPr>
        <p:txBody>
          <a:bodyPr wrap="square" lIns="0" rIns="0" tIns="0" bIns="0" anchor="ctr">
            <a:spAutoFit/>
          </a:bodyPr>
          <a:lstStyle/>
          <a:p>
            <a:pPr algn="ctr"/>
            <a:r>
              <a:rPr sz="1400" b="1">
                <a:solidFill>
                  <a:srgbClr val="FFFFFF"/>
                </a:solidFill>
                <a:latin typeface="Calibri"/>
              </a:rPr>
              <a:t>R3</a:t>
            </a:r>
          </a:p>
        </p:txBody>
      </p:sp>
      <p:sp>
        <p:nvSpPr>
          <p:cNvPr id="16" name="Rectangle 15"/>
          <p:cNvSpPr/>
          <p:nvPr/>
        </p:nvSpPr>
        <p:spPr>
          <a:xfrm>
            <a:off x="7132320" y="2606040"/>
            <a:ext cx="1371600"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2606040"/>
            <a:ext cx="1371600" cy="502920"/>
          </a:xfrm>
          <a:prstGeom prst="rect">
            <a:avLst/>
          </a:prstGeom>
          <a:noFill/>
        </p:spPr>
        <p:txBody>
          <a:bodyPr wrap="square" lIns="0" rIns="0" tIns="0" bIns="0" anchor="ctr">
            <a:spAutoFit/>
          </a:bodyPr>
          <a:lstStyle/>
          <a:p>
            <a:pPr algn="ctr"/>
            <a:r>
              <a:rPr sz="1400" b="1">
                <a:solidFill>
                  <a:srgbClr val="FFFFFF"/>
                </a:solidFill>
                <a:latin typeface="Calibri"/>
              </a:rPr>
              <a:t>R4</a:t>
            </a:r>
          </a:p>
        </p:txBody>
      </p:sp>
      <p:sp>
        <p:nvSpPr>
          <p:cNvPr id="18" name="Rectangle 17"/>
          <p:cNvSpPr/>
          <p:nvPr/>
        </p:nvSpPr>
        <p:spPr>
          <a:xfrm>
            <a:off x="8503920" y="2606040"/>
            <a:ext cx="1371600"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0" y="2606040"/>
            <a:ext cx="1371600" cy="502920"/>
          </a:xfrm>
          <a:prstGeom prst="rect">
            <a:avLst/>
          </a:prstGeom>
          <a:noFill/>
        </p:spPr>
        <p:txBody>
          <a:bodyPr wrap="square" lIns="0" rIns="0" tIns="0" bIns="0" anchor="ctr">
            <a:spAutoFit/>
          </a:bodyPr>
          <a:lstStyle/>
          <a:p>
            <a:pPr algn="ctr"/>
            <a:r>
              <a:rPr sz="1400" b="1">
                <a:solidFill>
                  <a:srgbClr val="FFFFFF"/>
                </a:solidFill>
                <a:latin typeface="Calibri"/>
              </a:rPr>
              <a:t>R5</a:t>
            </a:r>
          </a:p>
        </p:txBody>
      </p:sp>
      <p:sp>
        <p:nvSpPr>
          <p:cNvPr id="20" name="Rectangle 19"/>
          <p:cNvSpPr/>
          <p:nvPr/>
        </p:nvSpPr>
        <p:spPr>
          <a:xfrm>
            <a:off x="9875520" y="2606040"/>
            <a:ext cx="1371600"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0" y="2606040"/>
            <a:ext cx="1371600" cy="502920"/>
          </a:xfrm>
          <a:prstGeom prst="rect">
            <a:avLst/>
          </a:prstGeom>
          <a:noFill/>
        </p:spPr>
        <p:txBody>
          <a:bodyPr wrap="square" lIns="0" rIns="0" tIns="0" bIns="0" anchor="ctr">
            <a:spAutoFit/>
          </a:bodyPr>
          <a:lstStyle/>
          <a:p>
            <a:pPr algn="ctr"/>
            <a:r>
              <a:rPr sz="1400" b="1">
                <a:solidFill>
                  <a:srgbClr val="FFFFFF"/>
                </a:solidFill>
                <a:latin typeface="Calibri"/>
              </a:rPr>
              <a:t>R6</a:t>
            </a:r>
          </a:p>
        </p:txBody>
      </p:sp>
      <p:sp>
        <p:nvSpPr>
          <p:cNvPr id="22" name="Rectangle 21"/>
          <p:cNvSpPr/>
          <p:nvPr/>
        </p:nvSpPr>
        <p:spPr>
          <a:xfrm>
            <a:off x="548640" y="3108960"/>
            <a:ext cx="246888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108960"/>
            <a:ext cx="2331720" cy="502920"/>
          </a:xfrm>
          <a:prstGeom prst="rect">
            <a:avLst/>
          </a:prstGeom>
          <a:noFill/>
        </p:spPr>
        <p:txBody>
          <a:bodyPr wrap="square" lIns="0" rIns="0" tIns="0" bIns="0" anchor="ctr">
            <a:spAutoFit/>
          </a:bodyPr>
          <a:lstStyle/>
          <a:p>
            <a:pPr algn="l"/>
            <a:r>
              <a:rPr sz="1200" b="1">
                <a:solidFill>
                  <a:srgbClr val="1F2A37"/>
                </a:solidFill>
                <a:latin typeface="Calibri"/>
              </a:rPr>
              <a:t>Null-alternativ</a:t>
            </a:r>
          </a:p>
        </p:txBody>
      </p:sp>
      <p:sp>
        <p:nvSpPr>
          <p:cNvPr id="24" name="Rectangle 23"/>
          <p:cNvSpPr/>
          <p:nvPr/>
        </p:nvSpPr>
        <p:spPr>
          <a:xfrm>
            <a:off x="3017520" y="310896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7520" y="310896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26" name="Rectangle 25"/>
          <p:cNvSpPr/>
          <p:nvPr/>
        </p:nvSpPr>
        <p:spPr>
          <a:xfrm>
            <a:off x="4389120" y="310896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0" y="310896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28" name="Rectangle 27"/>
          <p:cNvSpPr/>
          <p:nvPr/>
        </p:nvSpPr>
        <p:spPr>
          <a:xfrm>
            <a:off x="5760720" y="310896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0" y="310896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30" name="Rectangle 29"/>
          <p:cNvSpPr/>
          <p:nvPr/>
        </p:nvSpPr>
        <p:spPr>
          <a:xfrm>
            <a:off x="7132320" y="310896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0" y="310896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32" name="Rectangle 31"/>
          <p:cNvSpPr/>
          <p:nvPr/>
        </p:nvSpPr>
        <p:spPr>
          <a:xfrm>
            <a:off x="8503920" y="310896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3920" y="310896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34" name="Rectangle 33"/>
          <p:cNvSpPr/>
          <p:nvPr/>
        </p:nvSpPr>
        <p:spPr>
          <a:xfrm>
            <a:off x="9875520" y="310896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0" y="310896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36" name="Rectangle 35"/>
          <p:cNvSpPr/>
          <p:nvPr/>
        </p:nvSpPr>
        <p:spPr>
          <a:xfrm>
            <a:off x="548640" y="3611880"/>
            <a:ext cx="24688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3611880"/>
            <a:ext cx="2331720" cy="502920"/>
          </a:xfrm>
          <a:prstGeom prst="rect">
            <a:avLst/>
          </a:prstGeom>
          <a:noFill/>
        </p:spPr>
        <p:txBody>
          <a:bodyPr wrap="square" lIns="0" rIns="0" tIns="0" bIns="0" anchor="ctr">
            <a:spAutoFit/>
          </a:bodyPr>
          <a:lstStyle/>
          <a:p>
            <a:pPr algn="l"/>
            <a:r>
              <a:rPr sz="1200" b="1">
                <a:solidFill>
                  <a:srgbClr val="1F2A37"/>
                </a:solidFill>
                <a:latin typeface="Calibri"/>
              </a:rPr>
              <a:t>Alt. 1: KI-støttet manuell</a:t>
            </a:r>
          </a:p>
        </p:txBody>
      </p:sp>
      <p:sp>
        <p:nvSpPr>
          <p:cNvPr id="38" name="Rectangle 37"/>
          <p:cNvSpPr/>
          <p:nvPr/>
        </p:nvSpPr>
        <p:spPr>
          <a:xfrm>
            <a:off x="3017520" y="361188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17520" y="361188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40" name="Rectangle 39"/>
          <p:cNvSpPr/>
          <p:nvPr/>
        </p:nvSpPr>
        <p:spPr>
          <a:xfrm>
            <a:off x="4389120" y="361188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89120" y="3611880"/>
            <a:ext cx="1371600" cy="502920"/>
          </a:xfrm>
          <a:prstGeom prst="rect">
            <a:avLst/>
          </a:prstGeom>
          <a:noFill/>
        </p:spPr>
        <p:txBody>
          <a:bodyPr wrap="square" lIns="0" rIns="0" tIns="0" bIns="0" anchor="ctr">
            <a:spAutoFit/>
          </a:bodyPr>
          <a:lstStyle/>
          <a:p>
            <a:pPr algn="ctr"/>
            <a:r>
              <a:rPr sz="1800" b="0">
                <a:solidFill>
                  <a:srgbClr val="556070"/>
                </a:solidFill>
                <a:latin typeface="Calibri"/>
              </a:rPr>
              <a:t>○</a:t>
            </a:r>
          </a:p>
        </p:txBody>
      </p:sp>
      <p:sp>
        <p:nvSpPr>
          <p:cNvPr id="42" name="Rectangle 41"/>
          <p:cNvSpPr/>
          <p:nvPr/>
        </p:nvSpPr>
        <p:spPr>
          <a:xfrm>
            <a:off x="5760720" y="361188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60720" y="3611880"/>
            <a:ext cx="1371600" cy="502920"/>
          </a:xfrm>
          <a:prstGeom prst="rect">
            <a:avLst/>
          </a:prstGeom>
          <a:noFill/>
        </p:spPr>
        <p:txBody>
          <a:bodyPr wrap="square" lIns="0" rIns="0" tIns="0" bIns="0" anchor="ctr">
            <a:spAutoFit/>
          </a:bodyPr>
          <a:lstStyle/>
          <a:p>
            <a:pPr algn="ctr"/>
            <a:r>
              <a:rPr sz="1800" b="0">
                <a:solidFill>
                  <a:srgbClr val="556070"/>
                </a:solidFill>
                <a:latin typeface="Calibri"/>
              </a:rPr>
              <a:t>○</a:t>
            </a:r>
          </a:p>
        </p:txBody>
      </p:sp>
      <p:sp>
        <p:nvSpPr>
          <p:cNvPr id="44" name="Rectangle 43"/>
          <p:cNvSpPr/>
          <p:nvPr/>
        </p:nvSpPr>
        <p:spPr>
          <a:xfrm>
            <a:off x="7132320" y="361188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32320" y="3611880"/>
            <a:ext cx="1371600" cy="502920"/>
          </a:xfrm>
          <a:prstGeom prst="rect">
            <a:avLst/>
          </a:prstGeom>
          <a:noFill/>
        </p:spPr>
        <p:txBody>
          <a:bodyPr wrap="square" lIns="0" rIns="0" tIns="0" bIns="0" anchor="ctr">
            <a:spAutoFit/>
          </a:bodyPr>
          <a:lstStyle/>
          <a:p>
            <a:pPr algn="ctr"/>
            <a:r>
              <a:rPr sz="1800" b="0">
                <a:solidFill>
                  <a:srgbClr val="556070"/>
                </a:solidFill>
                <a:latin typeface="Calibri"/>
              </a:rPr>
              <a:t>○</a:t>
            </a:r>
          </a:p>
        </p:txBody>
      </p:sp>
      <p:sp>
        <p:nvSpPr>
          <p:cNvPr id="46" name="Rectangle 45"/>
          <p:cNvSpPr/>
          <p:nvPr/>
        </p:nvSpPr>
        <p:spPr>
          <a:xfrm>
            <a:off x="8503920" y="361188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20" y="361188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48" name="Rectangle 47"/>
          <p:cNvSpPr/>
          <p:nvPr/>
        </p:nvSpPr>
        <p:spPr>
          <a:xfrm>
            <a:off x="9875520" y="361188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75520" y="3611880"/>
            <a:ext cx="1371600" cy="502920"/>
          </a:xfrm>
          <a:prstGeom prst="rect">
            <a:avLst/>
          </a:prstGeom>
          <a:noFill/>
        </p:spPr>
        <p:txBody>
          <a:bodyPr wrap="square" lIns="0" rIns="0" tIns="0" bIns="0" anchor="ctr">
            <a:spAutoFit/>
          </a:bodyPr>
          <a:lstStyle/>
          <a:p>
            <a:pPr algn="ctr"/>
            <a:r>
              <a:rPr sz="1800" b="0">
                <a:solidFill>
                  <a:srgbClr val="556070"/>
                </a:solidFill>
                <a:latin typeface="Calibri"/>
              </a:rPr>
              <a:t>○</a:t>
            </a:r>
          </a:p>
        </p:txBody>
      </p:sp>
      <p:sp>
        <p:nvSpPr>
          <p:cNvPr id="50" name="Rectangle 49"/>
          <p:cNvSpPr/>
          <p:nvPr/>
        </p:nvSpPr>
        <p:spPr>
          <a:xfrm>
            <a:off x="548640" y="4114800"/>
            <a:ext cx="246888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5800" y="4114800"/>
            <a:ext cx="2331720" cy="502920"/>
          </a:xfrm>
          <a:prstGeom prst="rect">
            <a:avLst/>
          </a:prstGeom>
          <a:noFill/>
        </p:spPr>
        <p:txBody>
          <a:bodyPr wrap="square" lIns="0" rIns="0" tIns="0" bIns="0" anchor="ctr">
            <a:spAutoFit/>
          </a:bodyPr>
          <a:lstStyle/>
          <a:p>
            <a:pPr algn="l"/>
            <a:r>
              <a:rPr sz="1200" b="1">
                <a:solidFill>
                  <a:srgbClr val="1F2A37"/>
                </a:solidFill>
                <a:latin typeface="Calibri"/>
              </a:rPr>
              <a:t>Alt. 2: Hybrid m/strukt. data</a:t>
            </a:r>
          </a:p>
        </p:txBody>
      </p:sp>
      <p:sp>
        <p:nvSpPr>
          <p:cNvPr id="52" name="Rectangle 51"/>
          <p:cNvSpPr/>
          <p:nvPr/>
        </p:nvSpPr>
        <p:spPr>
          <a:xfrm>
            <a:off x="3017520" y="411480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017520" y="411480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54" name="Rectangle 53"/>
          <p:cNvSpPr/>
          <p:nvPr/>
        </p:nvSpPr>
        <p:spPr>
          <a:xfrm>
            <a:off x="4389120" y="411480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389120" y="4114800"/>
            <a:ext cx="1371600" cy="502920"/>
          </a:xfrm>
          <a:prstGeom prst="rect">
            <a:avLst/>
          </a:prstGeom>
          <a:noFill/>
        </p:spPr>
        <p:txBody>
          <a:bodyPr wrap="square" lIns="0" rIns="0" tIns="0" bIns="0" anchor="ctr">
            <a:spAutoFit/>
          </a:bodyPr>
          <a:lstStyle/>
          <a:p>
            <a:pPr algn="ctr"/>
            <a:r>
              <a:rPr sz="1800" b="1">
                <a:solidFill>
                  <a:srgbClr val="003366"/>
                </a:solidFill>
                <a:latin typeface="Calibri"/>
              </a:rPr>
              <a:t>●</a:t>
            </a:r>
          </a:p>
        </p:txBody>
      </p:sp>
      <p:sp>
        <p:nvSpPr>
          <p:cNvPr id="56" name="Rectangle 55"/>
          <p:cNvSpPr/>
          <p:nvPr/>
        </p:nvSpPr>
        <p:spPr>
          <a:xfrm>
            <a:off x="5760720" y="411480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760720" y="4114800"/>
            <a:ext cx="1371600" cy="502920"/>
          </a:xfrm>
          <a:prstGeom prst="rect">
            <a:avLst/>
          </a:prstGeom>
          <a:noFill/>
        </p:spPr>
        <p:txBody>
          <a:bodyPr wrap="square" lIns="0" rIns="0" tIns="0" bIns="0" anchor="ctr">
            <a:spAutoFit/>
          </a:bodyPr>
          <a:lstStyle/>
          <a:p>
            <a:pPr algn="ctr"/>
            <a:r>
              <a:rPr sz="1800" b="1">
                <a:solidFill>
                  <a:srgbClr val="003366"/>
                </a:solidFill>
                <a:latin typeface="Calibri"/>
              </a:rPr>
              <a:t>●</a:t>
            </a:r>
          </a:p>
        </p:txBody>
      </p:sp>
      <p:sp>
        <p:nvSpPr>
          <p:cNvPr id="58" name="Rectangle 57"/>
          <p:cNvSpPr/>
          <p:nvPr/>
        </p:nvSpPr>
        <p:spPr>
          <a:xfrm>
            <a:off x="7132320" y="411480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132320" y="4114800"/>
            <a:ext cx="1371600" cy="502920"/>
          </a:xfrm>
          <a:prstGeom prst="rect">
            <a:avLst/>
          </a:prstGeom>
          <a:noFill/>
        </p:spPr>
        <p:txBody>
          <a:bodyPr wrap="square" lIns="0" rIns="0" tIns="0" bIns="0" anchor="ctr">
            <a:spAutoFit/>
          </a:bodyPr>
          <a:lstStyle/>
          <a:p>
            <a:pPr algn="ctr"/>
            <a:r>
              <a:rPr sz="1800" b="1">
                <a:solidFill>
                  <a:srgbClr val="003366"/>
                </a:solidFill>
                <a:latin typeface="Calibri"/>
              </a:rPr>
              <a:t>●</a:t>
            </a:r>
          </a:p>
        </p:txBody>
      </p:sp>
      <p:sp>
        <p:nvSpPr>
          <p:cNvPr id="60" name="Rectangle 59"/>
          <p:cNvSpPr/>
          <p:nvPr/>
        </p:nvSpPr>
        <p:spPr>
          <a:xfrm>
            <a:off x="8503920" y="411480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03920" y="411480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62" name="Rectangle 61"/>
          <p:cNvSpPr/>
          <p:nvPr/>
        </p:nvSpPr>
        <p:spPr>
          <a:xfrm>
            <a:off x="9875520" y="4114800"/>
            <a:ext cx="13716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875520" y="4114800"/>
            <a:ext cx="1371600" cy="502920"/>
          </a:xfrm>
          <a:prstGeom prst="rect">
            <a:avLst/>
          </a:prstGeom>
          <a:noFill/>
        </p:spPr>
        <p:txBody>
          <a:bodyPr wrap="square" lIns="0" rIns="0" tIns="0" bIns="0" anchor="ctr">
            <a:spAutoFit/>
          </a:bodyPr>
          <a:lstStyle/>
          <a:p>
            <a:pPr algn="ctr"/>
            <a:r>
              <a:rPr sz="1800" b="1">
                <a:solidFill>
                  <a:srgbClr val="003366"/>
                </a:solidFill>
                <a:latin typeface="Calibri"/>
              </a:rPr>
              <a:t>●</a:t>
            </a:r>
          </a:p>
        </p:txBody>
      </p:sp>
      <p:sp>
        <p:nvSpPr>
          <p:cNvPr id="64" name="Rectangle 63"/>
          <p:cNvSpPr/>
          <p:nvPr/>
        </p:nvSpPr>
        <p:spPr>
          <a:xfrm>
            <a:off x="548640" y="4617720"/>
            <a:ext cx="246888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5800" y="4617720"/>
            <a:ext cx="2331720" cy="502920"/>
          </a:xfrm>
          <a:prstGeom prst="rect">
            <a:avLst/>
          </a:prstGeom>
          <a:noFill/>
        </p:spPr>
        <p:txBody>
          <a:bodyPr wrap="square" lIns="0" rIns="0" tIns="0" bIns="0" anchor="ctr">
            <a:spAutoFit/>
          </a:bodyPr>
          <a:lstStyle/>
          <a:p>
            <a:pPr algn="l"/>
            <a:r>
              <a:rPr sz="1200" b="1">
                <a:solidFill>
                  <a:srgbClr val="1F2A37"/>
                </a:solidFill>
                <a:latin typeface="Calibri"/>
              </a:rPr>
              <a:t>Alt. 3: Full automatisering</a:t>
            </a:r>
          </a:p>
        </p:txBody>
      </p:sp>
      <p:sp>
        <p:nvSpPr>
          <p:cNvPr id="66" name="Rectangle 65"/>
          <p:cNvSpPr/>
          <p:nvPr/>
        </p:nvSpPr>
        <p:spPr>
          <a:xfrm>
            <a:off x="3017520" y="461772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017520" y="461772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68" name="Rectangle 67"/>
          <p:cNvSpPr/>
          <p:nvPr/>
        </p:nvSpPr>
        <p:spPr>
          <a:xfrm>
            <a:off x="4389120" y="461772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89120" y="4617720"/>
            <a:ext cx="1371600" cy="502920"/>
          </a:xfrm>
          <a:prstGeom prst="rect">
            <a:avLst/>
          </a:prstGeom>
          <a:noFill/>
        </p:spPr>
        <p:txBody>
          <a:bodyPr wrap="square" lIns="0" rIns="0" tIns="0" bIns="0" anchor="ctr">
            <a:spAutoFit/>
          </a:bodyPr>
          <a:lstStyle/>
          <a:p>
            <a:pPr algn="ctr"/>
            <a:r>
              <a:rPr sz="1800" b="1">
                <a:solidFill>
                  <a:srgbClr val="003366"/>
                </a:solidFill>
                <a:latin typeface="Calibri"/>
              </a:rPr>
              <a:t>●</a:t>
            </a:r>
          </a:p>
        </p:txBody>
      </p:sp>
      <p:sp>
        <p:nvSpPr>
          <p:cNvPr id="70" name="Rectangle 69"/>
          <p:cNvSpPr/>
          <p:nvPr/>
        </p:nvSpPr>
        <p:spPr>
          <a:xfrm>
            <a:off x="5760720" y="461772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760720" y="4617720"/>
            <a:ext cx="1371600" cy="502920"/>
          </a:xfrm>
          <a:prstGeom prst="rect">
            <a:avLst/>
          </a:prstGeom>
          <a:noFill/>
        </p:spPr>
        <p:txBody>
          <a:bodyPr wrap="square" lIns="0" rIns="0" tIns="0" bIns="0" anchor="ctr">
            <a:spAutoFit/>
          </a:bodyPr>
          <a:lstStyle/>
          <a:p>
            <a:pPr algn="ctr"/>
            <a:r>
              <a:rPr sz="1800" b="1">
                <a:solidFill>
                  <a:srgbClr val="003366"/>
                </a:solidFill>
                <a:latin typeface="Calibri"/>
              </a:rPr>
              <a:t>●</a:t>
            </a:r>
          </a:p>
        </p:txBody>
      </p:sp>
      <p:sp>
        <p:nvSpPr>
          <p:cNvPr id="72" name="Rectangle 71"/>
          <p:cNvSpPr/>
          <p:nvPr/>
        </p:nvSpPr>
        <p:spPr>
          <a:xfrm>
            <a:off x="7132320" y="461772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132320" y="4617720"/>
            <a:ext cx="1371600" cy="502920"/>
          </a:xfrm>
          <a:prstGeom prst="rect">
            <a:avLst/>
          </a:prstGeom>
          <a:noFill/>
        </p:spPr>
        <p:txBody>
          <a:bodyPr wrap="square" lIns="0" rIns="0" tIns="0" bIns="0" anchor="ctr">
            <a:spAutoFit/>
          </a:bodyPr>
          <a:lstStyle/>
          <a:p>
            <a:pPr algn="ctr"/>
            <a:r>
              <a:rPr sz="1800" b="1">
                <a:solidFill>
                  <a:srgbClr val="003366"/>
                </a:solidFill>
                <a:latin typeface="Calibri"/>
              </a:rPr>
              <a:t>●</a:t>
            </a:r>
          </a:p>
        </p:txBody>
      </p:sp>
      <p:sp>
        <p:nvSpPr>
          <p:cNvPr id="74" name="Rectangle 73"/>
          <p:cNvSpPr/>
          <p:nvPr/>
        </p:nvSpPr>
        <p:spPr>
          <a:xfrm>
            <a:off x="8503920" y="461772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503920" y="4617720"/>
            <a:ext cx="1371600" cy="502920"/>
          </a:xfrm>
          <a:prstGeom prst="rect">
            <a:avLst/>
          </a:prstGeom>
          <a:noFill/>
        </p:spPr>
        <p:txBody>
          <a:bodyPr wrap="square" lIns="0" rIns="0" tIns="0" bIns="0" anchor="ctr">
            <a:spAutoFit/>
          </a:bodyPr>
          <a:lstStyle/>
          <a:p>
            <a:pPr algn="ctr"/>
            <a:r>
              <a:rPr sz="1800" b="1">
                <a:solidFill>
                  <a:srgbClr val="C93636"/>
                </a:solidFill>
                <a:latin typeface="Calibri"/>
              </a:rPr>
              <a:t>–</a:t>
            </a:r>
          </a:p>
        </p:txBody>
      </p:sp>
      <p:sp>
        <p:nvSpPr>
          <p:cNvPr id="76" name="Rectangle 75"/>
          <p:cNvSpPr/>
          <p:nvPr/>
        </p:nvSpPr>
        <p:spPr>
          <a:xfrm>
            <a:off x="9875520" y="4617720"/>
            <a:ext cx="13716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875520" y="4617720"/>
            <a:ext cx="1371600" cy="502920"/>
          </a:xfrm>
          <a:prstGeom prst="rect">
            <a:avLst/>
          </a:prstGeom>
          <a:noFill/>
        </p:spPr>
        <p:txBody>
          <a:bodyPr wrap="square" lIns="0" rIns="0" tIns="0" bIns="0" anchor="ctr">
            <a:spAutoFit/>
          </a:bodyPr>
          <a:lstStyle/>
          <a:p>
            <a:pPr algn="ctr"/>
            <a:r>
              <a:rPr sz="1800" b="1">
                <a:solidFill>
                  <a:srgbClr val="003366"/>
                </a:solidFill>
                <a:latin typeface="Calibri"/>
              </a:rPr>
              <a:t>●</a:t>
            </a:r>
          </a:p>
        </p:txBody>
      </p:sp>
      <p:sp>
        <p:nvSpPr>
          <p:cNvPr id="78" name="TextBox 77"/>
          <p:cNvSpPr txBox="1"/>
          <p:nvPr/>
        </p:nvSpPr>
        <p:spPr>
          <a:xfrm>
            <a:off x="548640" y="5349240"/>
            <a:ext cx="7315200" cy="274320"/>
          </a:xfrm>
          <a:prstGeom prst="rect">
            <a:avLst/>
          </a:prstGeom>
          <a:noFill/>
        </p:spPr>
        <p:txBody>
          <a:bodyPr wrap="square" lIns="0" rIns="0" tIns="0" bIns="0" anchor="t">
            <a:spAutoFit/>
          </a:bodyPr>
          <a:lstStyle/>
          <a:p>
            <a:pPr algn="l"/>
            <a:r>
              <a:rPr sz="1100" b="0">
                <a:solidFill>
                  <a:srgbClr val="1F2A37"/>
                </a:solidFill>
                <a:latin typeface="Calibri"/>
              </a:rPr>
              <a:t>●  dekkes godt        ○  delvis dekkes        –  ikke dekket</a:t>
            </a:r>
          </a:p>
        </p:txBody>
      </p:sp>
      <p:sp>
        <p:nvSpPr>
          <p:cNvPr id="79" name="Rectangle 78"/>
          <p:cNvSpPr/>
          <p:nvPr/>
        </p:nvSpPr>
        <p:spPr>
          <a:xfrm>
            <a:off x="548640" y="5715000"/>
            <a:ext cx="11064240" cy="6858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77240" y="5715000"/>
            <a:ext cx="10607040" cy="685800"/>
          </a:xfrm>
          <a:prstGeom prst="rect">
            <a:avLst/>
          </a:prstGeom>
          <a:noFill/>
        </p:spPr>
        <p:txBody>
          <a:bodyPr wrap="square" lIns="0" rIns="0" tIns="0" bIns="0" anchor="ctr">
            <a:spAutoFit/>
          </a:bodyPr>
          <a:lstStyle/>
          <a:p>
            <a:pPr algn="l"/>
            <a:r>
              <a:rPr sz="1300" b="1">
                <a:solidFill>
                  <a:srgbClr val="FFFFFF"/>
                </a:solidFill>
                <a:latin typeface="Calibri"/>
              </a:rPr>
              <a:t>R1 (styringsmandat) og R5 (implementeringsinsentiver) dekkes IKKE av noen alternativ — krever parallelle organisatoriske tiltak</a:t>
            </a:r>
          </a:p>
        </p:txBody>
      </p:sp>
      <p:sp>
        <p:nvSpPr>
          <p:cNvPr id="81" name="TextBox 80"/>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82" name="TextBox 81"/>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08 · VEIEN VIDERE</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Fem konkrete neste steg</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94560"/>
            <a:ext cx="594360" cy="59436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94560"/>
            <a:ext cx="594360" cy="594360"/>
          </a:xfrm>
          <a:prstGeom prst="rect">
            <a:avLst/>
          </a:prstGeom>
          <a:noFill/>
        </p:spPr>
        <p:txBody>
          <a:bodyPr wrap="square" lIns="0" rIns="0" tIns="0" bIns="0" anchor="ctr">
            <a:spAutoFit/>
          </a:bodyPr>
          <a:lstStyle/>
          <a:p>
            <a:pPr algn="ctr"/>
            <a:r>
              <a:rPr sz="2200" b="1">
                <a:solidFill>
                  <a:srgbClr val="FFFFFF"/>
                </a:solidFill>
                <a:latin typeface="Calibri"/>
              </a:rPr>
              <a:t>1</a:t>
            </a:r>
          </a:p>
        </p:txBody>
      </p:sp>
      <p:sp>
        <p:nvSpPr>
          <p:cNvPr id="9" name="TextBox 8"/>
          <p:cNvSpPr txBox="1"/>
          <p:nvPr/>
        </p:nvSpPr>
        <p:spPr>
          <a:xfrm>
            <a:off x="1280160" y="2240280"/>
            <a:ext cx="10332720" cy="548640"/>
          </a:xfrm>
          <a:prstGeom prst="rect">
            <a:avLst/>
          </a:prstGeom>
          <a:noFill/>
        </p:spPr>
        <p:txBody>
          <a:bodyPr wrap="square" lIns="0" rIns="0" tIns="0" bIns="0" anchor="ctr">
            <a:spAutoFit/>
          </a:bodyPr>
          <a:lstStyle/>
          <a:p>
            <a:pPr algn="l"/>
            <a:r>
              <a:rPr sz="1600" b="0">
                <a:solidFill>
                  <a:srgbClr val="1F2A37"/>
                </a:solidFill>
                <a:latin typeface="Calibri"/>
              </a:rPr>
              <a:t>Forankre utfordringsbildet på tvers av FHI, Hdir, NHN og HOD</a:t>
            </a:r>
          </a:p>
        </p:txBody>
      </p:sp>
      <p:sp>
        <p:nvSpPr>
          <p:cNvPr id="10" name="Rectangle 9"/>
          <p:cNvSpPr/>
          <p:nvPr/>
        </p:nvSpPr>
        <p:spPr>
          <a:xfrm>
            <a:off x="548640" y="2971800"/>
            <a:ext cx="594360" cy="59436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71800"/>
            <a:ext cx="594360" cy="594360"/>
          </a:xfrm>
          <a:prstGeom prst="rect">
            <a:avLst/>
          </a:prstGeom>
          <a:noFill/>
        </p:spPr>
        <p:txBody>
          <a:bodyPr wrap="square" lIns="0" rIns="0" tIns="0" bIns="0" anchor="ctr">
            <a:spAutoFit/>
          </a:bodyPr>
          <a:lstStyle/>
          <a:p>
            <a:pPr algn="ctr"/>
            <a:r>
              <a:rPr sz="2200" b="1">
                <a:solidFill>
                  <a:srgbClr val="FFFFFF"/>
                </a:solidFill>
                <a:latin typeface="Calibri"/>
              </a:rPr>
              <a:t>2</a:t>
            </a:r>
          </a:p>
        </p:txBody>
      </p:sp>
      <p:sp>
        <p:nvSpPr>
          <p:cNvPr id="12" name="TextBox 11"/>
          <p:cNvSpPr txBox="1"/>
          <p:nvPr/>
        </p:nvSpPr>
        <p:spPr>
          <a:xfrm>
            <a:off x="1280160" y="3017520"/>
            <a:ext cx="10332720" cy="548640"/>
          </a:xfrm>
          <a:prstGeom prst="rect">
            <a:avLst/>
          </a:prstGeom>
          <a:noFill/>
        </p:spPr>
        <p:txBody>
          <a:bodyPr wrap="square" lIns="0" rIns="0" tIns="0" bIns="0" anchor="ctr">
            <a:spAutoFit/>
          </a:bodyPr>
          <a:lstStyle/>
          <a:p>
            <a:pPr algn="l"/>
            <a:r>
              <a:rPr sz="1600" b="0">
                <a:solidFill>
                  <a:srgbClr val="1F2A37"/>
                </a:solidFill>
                <a:latin typeface="Calibri"/>
              </a:rPr>
              <a:t>Vurdere alternativene mot full rotårsaksdekning – ikke bare tid og kostnad</a:t>
            </a:r>
          </a:p>
        </p:txBody>
      </p:sp>
      <p:sp>
        <p:nvSpPr>
          <p:cNvPr id="13" name="Rectangle 12"/>
          <p:cNvSpPr/>
          <p:nvPr/>
        </p:nvSpPr>
        <p:spPr>
          <a:xfrm>
            <a:off x="548640" y="3749039"/>
            <a:ext cx="594360" cy="59436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749039"/>
            <a:ext cx="594360" cy="594360"/>
          </a:xfrm>
          <a:prstGeom prst="rect">
            <a:avLst/>
          </a:prstGeom>
          <a:noFill/>
        </p:spPr>
        <p:txBody>
          <a:bodyPr wrap="square" lIns="0" rIns="0" tIns="0" bIns="0" anchor="ctr">
            <a:spAutoFit/>
          </a:bodyPr>
          <a:lstStyle/>
          <a:p>
            <a:pPr algn="ctr"/>
            <a:r>
              <a:rPr sz="2200" b="1">
                <a:solidFill>
                  <a:srgbClr val="FFFFFF"/>
                </a:solidFill>
                <a:latin typeface="Calibri"/>
              </a:rPr>
              <a:t>3</a:t>
            </a:r>
          </a:p>
        </p:txBody>
      </p:sp>
      <p:sp>
        <p:nvSpPr>
          <p:cNvPr id="15" name="TextBox 14"/>
          <p:cNvSpPr txBox="1"/>
          <p:nvPr/>
        </p:nvSpPr>
        <p:spPr>
          <a:xfrm>
            <a:off x="1280160" y="3794759"/>
            <a:ext cx="10332720" cy="548640"/>
          </a:xfrm>
          <a:prstGeom prst="rect">
            <a:avLst/>
          </a:prstGeom>
          <a:noFill/>
        </p:spPr>
        <p:txBody>
          <a:bodyPr wrap="square" lIns="0" rIns="0" tIns="0" bIns="0" anchor="ctr">
            <a:spAutoFit/>
          </a:bodyPr>
          <a:lstStyle/>
          <a:p>
            <a:pPr algn="l"/>
            <a:r>
              <a:rPr sz="1600" b="0">
                <a:solidFill>
                  <a:srgbClr val="1F2A37"/>
                </a:solidFill>
                <a:latin typeface="Calibri"/>
              </a:rPr>
              <a:t>Iverksette parallelle organisatoriske tiltak for R1 og R5</a:t>
            </a:r>
          </a:p>
        </p:txBody>
      </p:sp>
      <p:sp>
        <p:nvSpPr>
          <p:cNvPr id="16" name="Rectangle 15"/>
          <p:cNvSpPr/>
          <p:nvPr/>
        </p:nvSpPr>
        <p:spPr>
          <a:xfrm>
            <a:off x="548640" y="4526279"/>
            <a:ext cx="594360" cy="59436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526279"/>
            <a:ext cx="594360" cy="594360"/>
          </a:xfrm>
          <a:prstGeom prst="rect">
            <a:avLst/>
          </a:prstGeom>
          <a:noFill/>
        </p:spPr>
        <p:txBody>
          <a:bodyPr wrap="square" lIns="0" rIns="0" tIns="0" bIns="0" anchor="ctr">
            <a:spAutoFit/>
          </a:bodyPr>
          <a:lstStyle/>
          <a:p>
            <a:pPr algn="ctr"/>
            <a:r>
              <a:rPr sz="2200" b="1">
                <a:solidFill>
                  <a:srgbClr val="FFFFFF"/>
                </a:solidFill>
                <a:latin typeface="Calibri"/>
              </a:rPr>
              <a:t>4</a:t>
            </a:r>
          </a:p>
        </p:txBody>
      </p:sp>
      <p:sp>
        <p:nvSpPr>
          <p:cNvPr id="18" name="TextBox 17"/>
          <p:cNvSpPr txBox="1"/>
          <p:nvPr/>
        </p:nvSpPr>
        <p:spPr>
          <a:xfrm>
            <a:off x="1280160" y="4571999"/>
            <a:ext cx="10332720" cy="548640"/>
          </a:xfrm>
          <a:prstGeom prst="rect">
            <a:avLst/>
          </a:prstGeom>
          <a:noFill/>
        </p:spPr>
        <p:txBody>
          <a:bodyPr wrap="square" lIns="0" rIns="0" tIns="0" bIns="0" anchor="ctr">
            <a:spAutoFit/>
          </a:bodyPr>
          <a:lstStyle/>
          <a:p>
            <a:pPr algn="l"/>
            <a:r>
              <a:rPr sz="1600" b="0">
                <a:solidFill>
                  <a:srgbClr val="1F2A37"/>
                </a:solidFill>
                <a:latin typeface="Calibri"/>
              </a:rPr>
              <a:t>Lukke kunnskapshull (forsinkelser, kildevalg, KI-bruk)</a:t>
            </a:r>
          </a:p>
        </p:txBody>
      </p:sp>
      <p:sp>
        <p:nvSpPr>
          <p:cNvPr id="19" name="Rectangle 18"/>
          <p:cNvSpPr/>
          <p:nvPr/>
        </p:nvSpPr>
        <p:spPr>
          <a:xfrm>
            <a:off x="548640" y="5303520"/>
            <a:ext cx="594360" cy="59436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303520"/>
            <a:ext cx="594360" cy="594360"/>
          </a:xfrm>
          <a:prstGeom prst="rect">
            <a:avLst/>
          </a:prstGeom>
          <a:noFill/>
        </p:spPr>
        <p:txBody>
          <a:bodyPr wrap="square" lIns="0" rIns="0" tIns="0" bIns="0" anchor="ctr">
            <a:spAutoFit/>
          </a:bodyPr>
          <a:lstStyle/>
          <a:p>
            <a:pPr algn="ctr"/>
            <a:r>
              <a:rPr sz="2200" b="1">
                <a:solidFill>
                  <a:srgbClr val="FFFFFF"/>
                </a:solidFill>
                <a:latin typeface="Calibri"/>
              </a:rPr>
              <a:t>5</a:t>
            </a:r>
          </a:p>
        </p:txBody>
      </p:sp>
      <p:sp>
        <p:nvSpPr>
          <p:cNvPr id="21" name="TextBox 20"/>
          <p:cNvSpPr txBox="1"/>
          <p:nvPr/>
        </p:nvSpPr>
        <p:spPr>
          <a:xfrm>
            <a:off x="1280160" y="5349240"/>
            <a:ext cx="10332720" cy="548640"/>
          </a:xfrm>
          <a:prstGeom prst="rect">
            <a:avLst/>
          </a:prstGeom>
          <a:noFill/>
        </p:spPr>
        <p:txBody>
          <a:bodyPr wrap="square" lIns="0" rIns="0" tIns="0" bIns="0" anchor="ctr">
            <a:spAutoFit/>
          </a:bodyPr>
          <a:lstStyle/>
          <a:p>
            <a:pPr algn="l"/>
            <a:r>
              <a:rPr sz="1600" b="0">
                <a:solidFill>
                  <a:srgbClr val="1F2A37"/>
                </a:solidFill>
                <a:latin typeface="Calibri"/>
              </a:rPr>
              <a:t>Beslutte faseinndelt innføring: alt. 2 → alt. 3, med org. grep parallelt</a:t>
            </a:r>
          </a:p>
        </p:txBody>
      </p:sp>
      <p:sp>
        <p:nvSpPr>
          <p:cNvPr id="22" name="TextBox 21"/>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23" name="TextBox 22"/>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92608"/>
          </a:xfrm>
          <a:prstGeom prst="rect">
            <a:avLst/>
          </a:prstGeom>
          <a:noFill/>
        </p:spPr>
        <p:txBody>
          <a:bodyPr wrap="square" lIns="0" rIns="0" tIns="0" bIns="0" anchor="t">
            <a:spAutoFit/>
          </a:bodyPr>
          <a:lstStyle/>
          <a:p>
            <a:pPr algn="l"/>
            <a:r>
              <a:rPr sz="1000" b="1">
                <a:solidFill>
                  <a:srgbClr val="FFFFFF"/>
                </a:solidFill>
                <a:latin typeface="Calibri"/>
              </a:rPr>
              <a:t>UTFORDRINGSBILDET FOR KUNNSKAPSFORVALTNING  ·  HELSEDIREKTORATET 2026</a:t>
            </a:r>
          </a:p>
        </p:txBody>
      </p:sp>
      <p:sp>
        <p:nvSpPr>
          <p:cNvPr id="4" name="TextBox 3"/>
          <p:cNvSpPr txBox="1"/>
          <p:nvPr/>
        </p:nvSpPr>
        <p:spPr>
          <a:xfrm>
            <a:off x="548640" y="685800"/>
            <a:ext cx="10972800" cy="292608"/>
          </a:xfrm>
          <a:prstGeom prst="rect">
            <a:avLst/>
          </a:prstGeom>
          <a:noFill/>
        </p:spPr>
        <p:txBody>
          <a:bodyPr wrap="square" lIns="0" rIns="0" tIns="0" bIns="0" anchor="t">
            <a:spAutoFit/>
          </a:bodyPr>
          <a:lstStyle/>
          <a:p>
            <a:pPr algn="l"/>
            <a:r>
              <a:rPr sz="1200" b="1">
                <a:solidFill>
                  <a:srgbClr val="C93636"/>
                </a:solidFill>
                <a:latin typeface="Calibri"/>
              </a:rPr>
              <a:t>KILDER</a:t>
            </a:r>
          </a:p>
        </p:txBody>
      </p:sp>
      <p:sp>
        <p:nvSpPr>
          <p:cNvPr id="5" name="TextBox 4"/>
          <p:cNvSpPr txBox="1"/>
          <p:nvPr/>
        </p:nvSpPr>
        <p:spPr>
          <a:xfrm>
            <a:off x="548640" y="960120"/>
            <a:ext cx="10972800" cy="822960"/>
          </a:xfrm>
          <a:prstGeom prst="rect">
            <a:avLst/>
          </a:prstGeom>
          <a:noFill/>
        </p:spPr>
        <p:txBody>
          <a:bodyPr wrap="square" lIns="0" rIns="0" tIns="0" bIns="0" anchor="t">
            <a:spAutoFit/>
          </a:bodyPr>
          <a:lstStyle/>
          <a:p>
            <a:pPr algn="l"/>
            <a:r>
              <a:rPr sz="3200" b="1">
                <a:solidFill>
                  <a:srgbClr val="003366"/>
                </a:solidFill>
                <a:latin typeface="Calibri"/>
              </a:rPr>
              <a:t>Videre lesing og evidensgrunnlag</a:t>
            </a:r>
          </a:p>
        </p:txBody>
      </p:sp>
      <p:sp>
        <p:nvSpPr>
          <p:cNvPr id="6" name="Rectangle 5"/>
          <p:cNvSpPr/>
          <p:nvPr/>
        </p:nvSpPr>
        <p:spPr>
          <a:xfrm>
            <a:off x="548640" y="1783080"/>
            <a:ext cx="1097280" cy="400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94560"/>
            <a:ext cx="109728" cy="9144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5120640" cy="365760"/>
          </a:xfrm>
          <a:prstGeom prst="rect">
            <a:avLst/>
          </a:prstGeom>
          <a:noFill/>
        </p:spPr>
        <p:txBody>
          <a:bodyPr wrap="square" lIns="0" rIns="0" tIns="0" bIns="0" anchor="t">
            <a:spAutoFit/>
          </a:bodyPr>
          <a:lstStyle/>
          <a:p>
            <a:pPr algn="l"/>
            <a:r>
              <a:rPr sz="1400" b="1">
                <a:solidFill>
                  <a:srgbClr val="003366"/>
                </a:solidFill>
                <a:latin typeface="Calibri"/>
              </a:rPr>
              <a:t>Delrapport 2</a:t>
            </a:r>
          </a:p>
        </p:txBody>
      </p:sp>
      <p:sp>
        <p:nvSpPr>
          <p:cNvPr id="9" name="TextBox 8"/>
          <p:cNvSpPr txBox="1"/>
          <p:nvPr/>
        </p:nvSpPr>
        <p:spPr>
          <a:xfrm>
            <a:off x="822960" y="2606040"/>
            <a:ext cx="5120640" cy="457200"/>
          </a:xfrm>
          <a:prstGeom prst="rect">
            <a:avLst/>
          </a:prstGeom>
          <a:noFill/>
        </p:spPr>
        <p:txBody>
          <a:bodyPr wrap="square" lIns="0" rIns="0" tIns="0" bIns="0" anchor="t">
            <a:spAutoFit/>
          </a:bodyPr>
          <a:lstStyle/>
          <a:p>
            <a:pPr algn="l"/>
            <a:r>
              <a:rPr sz="1200" b="0">
                <a:solidFill>
                  <a:srgbClr val="1F2A37"/>
                </a:solidFill>
                <a:latin typeface="Calibri"/>
              </a:rPr>
              <a:t>Utfordringer og flaskehalser (kap. 2 og 9)</a:t>
            </a:r>
          </a:p>
        </p:txBody>
      </p:sp>
      <p:sp>
        <p:nvSpPr>
          <p:cNvPr id="10" name="Rectangle 9"/>
          <p:cNvSpPr/>
          <p:nvPr/>
        </p:nvSpPr>
        <p:spPr>
          <a:xfrm>
            <a:off x="6217920" y="2194560"/>
            <a:ext cx="109728" cy="9144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194560"/>
            <a:ext cx="5120640" cy="365760"/>
          </a:xfrm>
          <a:prstGeom prst="rect">
            <a:avLst/>
          </a:prstGeom>
          <a:noFill/>
        </p:spPr>
        <p:txBody>
          <a:bodyPr wrap="square" lIns="0" rIns="0" tIns="0" bIns="0" anchor="t">
            <a:spAutoFit/>
          </a:bodyPr>
          <a:lstStyle/>
          <a:p>
            <a:pPr algn="l"/>
            <a:r>
              <a:rPr sz="1400" b="1">
                <a:solidFill>
                  <a:srgbClr val="003366"/>
                </a:solidFill>
                <a:latin typeface="Calibri"/>
              </a:rPr>
              <a:t>Delrapport 4</a:t>
            </a:r>
          </a:p>
        </p:txBody>
      </p:sp>
      <p:sp>
        <p:nvSpPr>
          <p:cNvPr id="12" name="TextBox 11"/>
          <p:cNvSpPr txBox="1"/>
          <p:nvPr/>
        </p:nvSpPr>
        <p:spPr>
          <a:xfrm>
            <a:off x="6492240" y="2606040"/>
            <a:ext cx="5120640" cy="457200"/>
          </a:xfrm>
          <a:prstGeom prst="rect">
            <a:avLst/>
          </a:prstGeom>
          <a:noFill/>
        </p:spPr>
        <p:txBody>
          <a:bodyPr wrap="square" lIns="0" rIns="0" tIns="0" bIns="0" anchor="t">
            <a:spAutoFit/>
          </a:bodyPr>
          <a:lstStyle/>
          <a:p>
            <a:pPr algn="l"/>
            <a:r>
              <a:rPr sz="1200" b="0">
                <a:solidFill>
                  <a:srgbClr val="1F2A37"/>
                </a:solidFill>
                <a:latin typeface="Calibri"/>
              </a:rPr>
              <a:t>Alternativer for ny verdikjede (kap. 6.1)</a:t>
            </a:r>
          </a:p>
        </p:txBody>
      </p:sp>
      <p:sp>
        <p:nvSpPr>
          <p:cNvPr id="13" name="Rectangle 12"/>
          <p:cNvSpPr/>
          <p:nvPr/>
        </p:nvSpPr>
        <p:spPr>
          <a:xfrm>
            <a:off x="548640" y="3291839"/>
            <a:ext cx="109728" cy="9144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291839"/>
            <a:ext cx="5120640" cy="365760"/>
          </a:xfrm>
          <a:prstGeom prst="rect">
            <a:avLst/>
          </a:prstGeom>
          <a:noFill/>
        </p:spPr>
        <p:txBody>
          <a:bodyPr wrap="square" lIns="0" rIns="0" tIns="0" bIns="0" anchor="t">
            <a:spAutoFit/>
          </a:bodyPr>
          <a:lstStyle/>
          <a:p>
            <a:pPr algn="l"/>
            <a:r>
              <a:rPr sz="1400" b="1">
                <a:solidFill>
                  <a:srgbClr val="003366"/>
                </a:solidFill>
                <a:latin typeface="Calibri"/>
              </a:rPr>
              <a:t>Delrapport 7</a:t>
            </a:r>
          </a:p>
        </p:txBody>
      </p:sp>
      <p:sp>
        <p:nvSpPr>
          <p:cNvPr id="15" name="TextBox 14"/>
          <p:cNvSpPr txBox="1"/>
          <p:nvPr/>
        </p:nvSpPr>
        <p:spPr>
          <a:xfrm>
            <a:off x="822960" y="3703319"/>
            <a:ext cx="5120640" cy="457200"/>
          </a:xfrm>
          <a:prstGeom prst="rect">
            <a:avLst/>
          </a:prstGeom>
          <a:noFill/>
        </p:spPr>
        <p:txBody>
          <a:bodyPr wrap="square" lIns="0" rIns="0" tIns="0" bIns="0" anchor="t">
            <a:spAutoFit/>
          </a:bodyPr>
          <a:lstStyle/>
          <a:p>
            <a:pPr algn="l"/>
            <a:r>
              <a:rPr sz="1200" b="0">
                <a:solidFill>
                  <a:srgbClr val="1F2A37"/>
                </a:solidFill>
                <a:latin typeface="Calibri"/>
              </a:rPr>
              <a:t>Samlet vurdering (kap. 4 og 5.4)</a:t>
            </a:r>
          </a:p>
        </p:txBody>
      </p:sp>
      <p:sp>
        <p:nvSpPr>
          <p:cNvPr id="16" name="Rectangle 15"/>
          <p:cNvSpPr/>
          <p:nvPr/>
        </p:nvSpPr>
        <p:spPr>
          <a:xfrm>
            <a:off x="6217920" y="3291839"/>
            <a:ext cx="109728" cy="9144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291839"/>
            <a:ext cx="5120640" cy="365760"/>
          </a:xfrm>
          <a:prstGeom prst="rect">
            <a:avLst/>
          </a:prstGeom>
          <a:noFill/>
        </p:spPr>
        <p:txBody>
          <a:bodyPr wrap="square" lIns="0" rIns="0" tIns="0" bIns="0" anchor="t">
            <a:spAutoFit/>
          </a:bodyPr>
          <a:lstStyle/>
          <a:p>
            <a:pPr algn="l"/>
            <a:r>
              <a:rPr sz="1400" b="1">
                <a:solidFill>
                  <a:srgbClr val="003366"/>
                </a:solidFill>
                <a:latin typeface="Calibri"/>
              </a:rPr>
              <a:t>Rolledeling i sentral helseforvaltning</a:t>
            </a:r>
          </a:p>
        </p:txBody>
      </p:sp>
      <p:sp>
        <p:nvSpPr>
          <p:cNvPr id="18" name="TextBox 17"/>
          <p:cNvSpPr txBox="1"/>
          <p:nvPr/>
        </p:nvSpPr>
        <p:spPr>
          <a:xfrm>
            <a:off x="6492240" y="3703319"/>
            <a:ext cx="5120640" cy="457200"/>
          </a:xfrm>
          <a:prstGeom prst="rect">
            <a:avLst/>
          </a:prstGeom>
          <a:noFill/>
        </p:spPr>
        <p:txBody>
          <a:bodyPr wrap="square" lIns="0" rIns="0" tIns="0" bIns="0" anchor="t">
            <a:spAutoFit/>
          </a:bodyPr>
          <a:lstStyle/>
          <a:p>
            <a:pPr algn="l"/>
            <a:r>
              <a:rPr sz="1200" b="0">
                <a:solidFill>
                  <a:srgbClr val="1F2A37"/>
                </a:solidFill>
                <a:latin typeface="Calibri"/>
              </a:rPr>
              <a:t>Kap. 5.5</a:t>
            </a:r>
          </a:p>
        </p:txBody>
      </p:sp>
      <p:sp>
        <p:nvSpPr>
          <p:cNvPr id="19" name="Rectangle 18"/>
          <p:cNvSpPr/>
          <p:nvPr/>
        </p:nvSpPr>
        <p:spPr>
          <a:xfrm>
            <a:off x="548640" y="4389120"/>
            <a:ext cx="109728" cy="9144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389120"/>
            <a:ext cx="5120640" cy="365760"/>
          </a:xfrm>
          <a:prstGeom prst="rect">
            <a:avLst/>
          </a:prstGeom>
          <a:noFill/>
        </p:spPr>
        <p:txBody>
          <a:bodyPr wrap="square" lIns="0" rIns="0" tIns="0" bIns="0" anchor="t">
            <a:spAutoFit/>
          </a:bodyPr>
          <a:lstStyle/>
          <a:p>
            <a:pPr algn="l"/>
            <a:r>
              <a:rPr sz="1400" b="1">
                <a:solidFill>
                  <a:srgbClr val="003366"/>
                </a:solidFill>
                <a:latin typeface="Calibri"/>
              </a:rPr>
              <a:t>Casestudier</a:t>
            </a:r>
          </a:p>
        </p:txBody>
      </p:sp>
      <p:sp>
        <p:nvSpPr>
          <p:cNvPr id="21" name="TextBox 20"/>
          <p:cNvSpPr txBox="1"/>
          <p:nvPr/>
        </p:nvSpPr>
        <p:spPr>
          <a:xfrm>
            <a:off x="822960" y="4800600"/>
            <a:ext cx="5120640" cy="457200"/>
          </a:xfrm>
          <a:prstGeom prst="rect">
            <a:avLst/>
          </a:prstGeom>
          <a:noFill/>
        </p:spPr>
        <p:txBody>
          <a:bodyPr wrap="square" lIns="0" rIns="0" tIns="0" bIns="0" anchor="t">
            <a:spAutoFit/>
          </a:bodyPr>
          <a:lstStyle/>
          <a:p>
            <a:pPr algn="l"/>
            <a:r>
              <a:rPr sz="1200" b="0">
                <a:solidFill>
                  <a:srgbClr val="1F2A37"/>
                </a:solidFill>
                <a:latin typeface="Calibri"/>
              </a:rPr>
              <a:t>Antibiotika · diabetes type 2 · slagbehandling</a:t>
            </a:r>
          </a:p>
        </p:txBody>
      </p:sp>
      <p:sp>
        <p:nvSpPr>
          <p:cNvPr id="22" name="Rectangle 21"/>
          <p:cNvSpPr/>
          <p:nvPr/>
        </p:nvSpPr>
        <p:spPr>
          <a:xfrm>
            <a:off x="6217920" y="4389120"/>
            <a:ext cx="109728" cy="914400"/>
          </a:xfrm>
          <a:prstGeom prst="rect">
            <a:avLst/>
          </a:prstGeom>
          <a:solidFill>
            <a:srgbClr val="C9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4389120"/>
            <a:ext cx="5120640" cy="365760"/>
          </a:xfrm>
          <a:prstGeom prst="rect">
            <a:avLst/>
          </a:prstGeom>
          <a:noFill/>
        </p:spPr>
        <p:txBody>
          <a:bodyPr wrap="square" lIns="0" rIns="0" tIns="0" bIns="0" anchor="t">
            <a:spAutoFit/>
          </a:bodyPr>
          <a:lstStyle/>
          <a:p>
            <a:pPr algn="l"/>
            <a:r>
              <a:rPr sz="1400" b="1">
                <a:solidFill>
                  <a:srgbClr val="003366"/>
                </a:solidFill>
                <a:latin typeface="Calibri"/>
              </a:rPr>
              <a:t>Visualisering</a:t>
            </a:r>
          </a:p>
        </p:txBody>
      </p:sp>
      <p:sp>
        <p:nvSpPr>
          <p:cNvPr id="24" name="TextBox 23"/>
          <p:cNvSpPr txBox="1"/>
          <p:nvPr/>
        </p:nvSpPr>
        <p:spPr>
          <a:xfrm>
            <a:off x="6492240" y="4800600"/>
            <a:ext cx="5120640" cy="457200"/>
          </a:xfrm>
          <a:prstGeom prst="rect">
            <a:avLst/>
          </a:prstGeom>
          <a:noFill/>
        </p:spPr>
        <p:txBody>
          <a:bodyPr wrap="square" lIns="0" rIns="0" tIns="0" bIns="0" anchor="t">
            <a:spAutoFit/>
          </a:bodyPr>
          <a:lstStyle/>
          <a:p>
            <a:pPr algn="l"/>
            <a:r>
              <a:rPr sz="1200" b="0">
                <a:solidFill>
                  <a:srgbClr val="1F2A37"/>
                </a:solidFill>
                <a:latin typeface="Calibri"/>
              </a:rPr>
              <a:t>utfordringer-relasjoner.html (interaktiv kausalgraf)</a:t>
            </a:r>
          </a:p>
        </p:txBody>
      </p:sp>
      <p:sp>
        <p:nvSpPr>
          <p:cNvPr id="25" name="Rectangle 24"/>
          <p:cNvSpPr/>
          <p:nvPr/>
        </p:nvSpPr>
        <p:spPr>
          <a:xfrm>
            <a:off x="548640" y="5852160"/>
            <a:ext cx="11064240" cy="548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852160"/>
            <a:ext cx="10607040" cy="548640"/>
          </a:xfrm>
          <a:prstGeom prst="rect">
            <a:avLst/>
          </a:prstGeom>
          <a:noFill/>
        </p:spPr>
        <p:txBody>
          <a:bodyPr wrap="square" lIns="0" rIns="0" tIns="0" bIns="0" anchor="ctr">
            <a:spAutoFit/>
          </a:bodyPr>
          <a:lstStyle/>
          <a:p>
            <a:pPr algn="l"/>
            <a:r>
              <a:rPr sz="1200" b="0">
                <a:solidFill>
                  <a:srgbClr val="1F2A37"/>
                </a:solidFill>
                <a:latin typeface="Calibri"/>
              </a:rPr>
              <a:t>Alle utsagn i underliggende rapporter er merket [DOK] (dokumentert) eller [ANT] (analytisk slutning).</a:t>
            </a:r>
          </a:p>
        </p:txBody>
      </p:sp>
      <p:sp>
        <p:nvSpPr>
          <p:cNvPr id="27" name="TextBox 26"/>
          <p:cNvSpPr txBox="1"/>
          <p:nvPr/>
        </p:nvSpPr>
        <p:spPr>
          <a:xfrm>
            <a:off x="548640" y="6446520"/>
            <a:ext cx="7315200" cy="274320"/>
          </a:xfrm>
          <a:prstGeom prst="rect">
            <a:avLst/>
          </a:prstGeom>
          <a:noFill/>
        </p:spPr>
        <p:txBody>
          <a:bodyPr wrap="square" lIns="0" rIns="0" tIns="0" bIns="0" anchor="t">
            <a:spAutoFit/>
          </a:bodyPr>
          <a:lstStyle/>
          <a:p>
            <a:pPr algn="l"/>
            <a:r>
              <a:rPr sz="900" b="0">
                <a:solidFill>
                  <a:srgbClr val="556070"/>
                </a:solidFill>
                <a:latin typeface="Calibri"/>
              </a:rPr>
              <a:t>Forankring av problemforståelse  ·  Delrapport 2 og rolledeling-rapporten</a:t>
            </a:r>
          </a:p>
        </p:txBody>
      </p:sp>
      <p:sp>
        <p:nvSpPr>
          <p:cNvPr id="28" name="TextBox 27"/>
          <p:cNvSpPr txBox="1"/>
          <p:nvPr/>
        </p:nvSpPr>
        <p:spPr>
          <a:xfrm>
            <a:off x="10515600" y="6446520"/>
            <a:ext cx="1280160" cy="274320"/>
          </a:xfrm>
          <a:prstGeom prst="rect">
            <a:avLst/>
          </a:prstGeom>
          <a:noFill/>
        </p:spPr>
        <p:txBody>
          <a:bodyPr wrap="square" lIns="0" rIns="0" tIns="0" bIns="0" anchor="t">
            <a:spAutoFit/>
          </a:bodyPr>
          <a:lstStyle/>
          <a:p>
            <a:pPr algn="r"/>
            <a:r>
              <a:rPr sz="900" b="0">
                <a:solidFill>
                  <a:srgbClr val="556070"/>
                </a:solidFill>
                <a:latin typeface="Calibr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51D05E13A0CAE4FAEB0483BDB291AAE" ma:contentTypeVersion="10" ma:contentTypeDescription="Create a new document." ma:contentTypeScope="" ma:versionID="79aea1d05ac3e5b98de28b9e06920632">
  <xsd:schema xmlns:xsd="http://www.w3.org/2001/XMLSchema" xmlns:xs="http://www.w3.org/2001/XMLSchema" xmlns:p="http://schemas.microsoft.com/office/2006/metadata/properties" xmlns:ns2="1063c122-4bbe-4826-b48d-9d0fb0a65790" xmlns:ns3="6f2d6c3d-a81e-4dca-8790-2d5b1d74c7c5" targetNamespace="http://schemas.microsoft.com/office/2006/metadata/properties" ma:root="true" ma:fieldsID="41760dbbac4dbb66fef1edba5d3279e3" ns2:_="" ns3:_="">
    <xsd:import namespace="1063c122-4bbe-4826-b48d-9d0fb0a65790"/>
    <xsd:import namespace="6f2d6c3d-a81e-4dca-8790-2d5b1d74c7c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63c122-4bbe-4826-b48d-9d0fb0a657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4bd27e2-62de-4af1-85f7-19d8bf2bfc5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f2d6c3d-a81e-4dca-8790-2d5b1d74c7c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604ea7e-7ecf-4376-a85b-280f98472f3a}" ma:internalName="TaxCatchAll" ma:showField="CatchAllData" ma:web="6f2d6c3d-a81e-4dca-8790-2d5b1d74c7c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063c122-4bbe-4826-b48d-9d0fb0a65790">
      <Terms xmlns="http://schemas.microsoft.com/office/infopath/2007/PartnerControls"/>
    </lcf76f155ced4ddcb4097134ff3c332f>
    <TaxCatchAll xmlns="6f2d6c3d-a81e-4dca-8790-2d5b1d74c7c5" xsi:nil="true"/>
  </documentManagement>
</p:properties>
</file>

<file path=customXml/itemProps1.xml><?xml version="1.0" encoding="utf-8"?>
<ds:datastoreItem xmlns:ds="http://schemas.openxmlformats.org/officeDocument/2006/customXml" ds:itemID="{A0490C6D-1619-4E0F-91F2-B9BB178385D1}"/>
</file>

<file path=customXml/itemProps2.xml><?xml version="1.0" encoding="utf-8"?>
<ds:datastoreItem xmlns:ds="http://schemas.openxmlformats.org/officeDocument/2006/customXml" ds:itemID="{A80F9DED-55C3-41BC-BD3B-5BBC2510A46D}"/>
</file>

<file path=customXml/itemProps3.xml><?xml version="1.0" encoding="utf-8"?>
<ds:datastoreItem xmlns:ds="http://schemas.openxmlformats.org/officeDocument/2006/customXml" ds:itemID="{1AC1B91C-2659-4EAE-9DA0-FA619A76A74B}"/>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0x010100751D05E13A0CAE4FAEB0483BDB291AAE</vt:lpwstr>
  </property>
</Properties>
</file>