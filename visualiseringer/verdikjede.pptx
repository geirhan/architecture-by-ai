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Dagens verdikjede for kunnskapsforvaltning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55555"/>
                </a:solidFill>
              </a:defRPr>
            </a:pPr>
            <a:r>
              <a:t>Fra forskning til innbyggere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280160" cy="6858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STEG 1</a:t>
            </a:r>
          </a:p>
          <a:p>
            <a:pPr algn="ctr">
              <a:defRPr sz="1200" b="1">
                <a:solidFill>
                  <a:srgbClr val="003366"/>
                </a:solidFill>
              </a:defRPr>
            </a:pPr>
            <a:r>
              <a:t>Forskning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828800" y="1874519"/>
            <a:ext cx="320040" cy="365760"/>
          </a:xfrm>
          <a:prstGeom prst="rightArrow">
            <a:avLst/>
          </a:prstGeom>
          <a:solidFill>
            <a:srgbClr val="00336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4560" y="1554480"/>
            <a:ext cx="1463040" cy="6858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STEG 2</a:t>
            </a:r>
          </a:p>
          <a:p>
            <a:pPr algn="ctr">
              <a:defRPr sz="1200" b="1">
                <a:solidFill>
                  <a:srgbClr val="003366"/>
                </a:solidFill>
              </a:defRPr>
            </a:pPr>
            <a:r>
              <a:t>Oppsummering (GRADE)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49039" y="1874519"/>
            <a:ext cx="320040" cy="365760"/>
          </a:xfrm>
          <a:prstGeom prst="rightArrow">
            <a:avLst/>
          </a:prstGeom>
          <a:solidFill>
            <a:srgbClr val="00336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5727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STEG 3 – Fire parallelle strømmer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2057400"/>
            <a:ext cx="1097280" cy="1920240"/>
          </a:xfrm>
          <a:prstGeom prst="roundRect">
            <a:avLst/>
          </a:prstGeom>
          <a:solidFill>
            <a:srgbClr val="D4544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3a</a:t>
            </a:r>
            <a:br/>
            <a:r>
              <a:t>Normering</a:t>
            </a:r>
          </a:p>
          <a:p>
            <a:pPr algn="ctr"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Helsedirektoratet</a:t>
            </a:r>
            <a:br/>
            <a:r>
              <a:t>Retningslinjer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───────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1–5 år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057400"/>
            <a:ext cx="1097280" cy="1920240"/>
          </a:xfrm>
          <a:prstGeom prst="roundRect">
            <a:avLst/>
          </a:prstGeom>
          <a:solidFill>
            <a:srgbClr val="4A90E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3b</a:t>
            </a:r>
            <a:br/>
            <a:r>
              <a:t>Klinisk</a:t>
            </a:r>
          </a:p>
          <a:p>
            <a:pPr algn="ctr"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UpToDate, BMJ</a:t>
            </a:r>
            <a:br/>
            <a:r>
              <a:t>Oppslagsverk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───────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Måneder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057400"/>
            <a:ext cx="1097280" cy="1920240"/>
          </a:xfrm>
          <a:prstGeom prst="roundRect">
            <a:avLst/>
          </a:prstGeom>
          <a:solidFill>
            <a:srgbClr val="F5A62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3c</a:t>
            </a:r>
            <a:br/>
            <a:r>
              <a:t>Legemiddel</a:t>
            </a:r>
          </a:p>
          <a:p>
            <a:pPr algn="ctr"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DMP</a:t>
            </a:r>
            <a:br/>
            <a:r>
              <a:t>Felleskatalogen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───────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Dager–uker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057400"/>
            <a:ext cx="1097280" cy="1920240"/>
          </a:xfrm>
          <a:prstGeom prst="roundRect">
            <a:avLst/>
          </a:prstGeom>
          <a:solidFill>
            <a:srgbClr val="50C87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3d</a:t>
            </a:r>
            <a:br/>
            <a:r>
              <a:t>Innbygger</a:t>
            </a:r>
          </a:p>
          <a:p>
            <a:pPr algn="ctr"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helsenorge.no</a:t>
            </a:r>
            <a:br/>
            <a:r>
              <a:t>Mediaer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800">
                <a:solidFill>
                  <a:srgbClr val="FFFFFF"/>
                </a:solidFill>
              </a:defRPr>
            </a:pPr>
            <a:r>
              <a:t>───────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Variabel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366"/>
                </a:solidFill>
              </a:defRPr>
            </a:pPr>
            <a:r>
              <a:t>Tidsforskjeller – fra forskning til praksis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548640" cy="320040"/>
          </a:xfrm>
          <a:prstGeom prst="roundRect">
            <a:avLst/>
          </a:prstGeom>
          <a:solidFill>
            <a:srgbClr val="50C87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</a:defRPr>
            </a:pPr>
            <a:r>
              <a:t>Timer–dager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526280"/>
            <a:ext cx="1463040" cy="320040"/>
          </a:xfrm>
          <a:prstGeom prst="roundRect">
            <a:avLst/>
          </a:prstGeom>
          <a:solidFill>
            <a:srgbClr val="4A90E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4937760"/>
            <a:ext cx="1463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</a:defRPr>
            </a:pPr>
            <a:r>
              <a:t>Måneder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4526280"/>
            <a:ext cx="3200400" cy="320040"/>
          </a:xfrm>
          <a:prstGeom prst="roundRect">
            <a:avLst/>
          </a:prstGeom>
          <a:solidFill>
            <a:srgbClr val="D4544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493776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</a:defRPr>
            </a:pPr>
            <a:r>
              <a:t>1–5 år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ESSENSEN: Fire uavhengige parallelle strømmer med drastisk ulike hastigheter. Ingen koordinering mellom strømmene. Risiko for motstridende informasjon til helsepersonell og innbyggere.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