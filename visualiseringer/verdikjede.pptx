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Dagens verdikjede for kunnskapsforvaltning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Fra forskning til innbyggere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280160" cy="685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STEG 1</a:t>
            </a:r>
          </a:p>
          <a:p>
            <a:pPr algn="ctr">
              <a:defRPr sz="1200" b="1">
                <a:solidFill>
                  <a:srgbClr val="003366"/>
                </a:solidFill>
              </a:defRPr>
            </a:pPr>
            <a:r>
              <a:t>Forskning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28800" y="1874519"/>
            <a:ext cx="320040" cy="365760"/>
          </a:xfrm>
          <a:prstGeom prst="rightArrow">
            <a:avLst/>
          </a:prstGeom>
          <a:solidFill>
            <a:srgbClr val="00336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0" y="1554480"/>
            <a:ext cx="1463040" cy="685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STEG 2</a:t>
            </a:r>
          </a:p>
          <a:p>
            <a:pPr algn="ctr">
              <a:defRPr sz="1200" b="1">
                <a:solidFill>
                  <a:srgbClr val="003366"/>
                </a:solidFill>
              </a:defRPr>
            </a:pPr>
            <a:r>
              <a:t>Oppsummering (GRADE)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1874519"/>
            <a:ext cx="320040" cy="365760"/>
          </a:xfrm>
          <a:prstGeom prst="rightArrow">
            <a:avLst/>
          </a:prstGeom>
          <a:solidFill>
            <a:srgbClr val="00336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5727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STEG 3 – Fire parallelle strømmer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057400"/>
            <a:ext cx="1097280" cy="1920240"/>
          </a:xfrm>
          <a:prstGeom prst="roundRect">
            <a:avLst/>
          </a:prstGeom>
          <a:solidFill>
            <a:srgbClr val="D4544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3a</a:t>
            </a:r>
            <a:br/>
            <a:r>
              <a:t>Normering</a:t>
            </a:r>
          </a:p>
          <a:p>
            <a:pPr algn="ctr"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Helsedirektoratet</a:t>
            </a:r>
            <a:br/>
            <a:r>
              <a:t>Retningslinjer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───────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1–5 år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057400"/>
            <a:ext cx="1097280" cy="1920240"/>
          </a:xfrm>
          <a:prstGeom prst="roundRect">
            <a:avLst/>
          </a:prstGeom>
          <a:solidFill>
            <a:srgbClr val="4A90E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3b</a:t>
            </a:r>
            <a:br/>
            <a:r>
              <a:t>Klinisk</a:t>
            </a:r>
          </a:p>
          <a:p>
            <a:pPr algn="ctr"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UpToDate, BMJ</a:t>
            </a:r>
            <a:br/>
            <a:r>
              <a:t>Oppslagsverk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───────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Måneder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057400"/>
            <a:ext cx="1097280" cy="1920240"/>
          </a:xfrm>
          <a:prstGeom prst="roundRect">
            <a:avLst/>
          </a:prstGeom>
          <a:solidFill>
            <a:srgbClr val="F5A62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3c</a:t>
            </a:r>
            <a:br/>
            <a:r>
              <a:t>Legemiddel</a:t>
            </a:r>
          </a:p>
          <a:p>
            <a:pPr algn="ctr"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DMP</a:t>
            </a:r>
            <a:br/>
            <a:r>
              <a:t>Felleskatalogen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───────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Dager–uker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057400"/>
            <a:ext cx="1097280" cy="1920240"/>
          </a:xfrm>
          <a:prstGeom prst="roundRect">
            <a:avLst/>
          </a:prstGeom>
          <a:solidFill>
            <a:srgbClr val="50C87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3d</a:t>
            </a:r>
            <a:br/>
            <a:r>
              <a:t>Innbygger</a:t>
            </a:r>
          </a:p>
          <a:p>
            <a:pPr algn="ctr"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helsenorge.no</a:t>
            </a:r>
            <a:br/>
            <a:r>
              <a:t>Mediaer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800">
                <a:solidFill>
                  <a:srgbClr val="FFFFFF"/>
                </a:solidFill>
              </a:defRPr>
            </a:pPr>
            <a:r>
              <a:t>───────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Variabel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Tidsforskjeller – fra forskning til praksis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548640" cy="320040"/>
          </a:xfrm>
          <a:prstGeom prst="roundRect">
            <a:avLst/>
          </a:prstGeom>
          <a:solidFill>
            <a:srgbClr val="50C87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Timer–dager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526280"/>
            <a:ext cx="1463040" cy="320040"/>
          </a:xfrm>
          <a:prstGeom prst="roundRect">
            <a:avLst/>
          </a:prstGeom>
          <a:solidFill>
            <a:srgbClr val="4A90E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93776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Måneder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526280"/>
            <a:ext cx="3200400" cy="320040"/>
          </a:xfrm>
          <a:prstGeom prst="roundRect">
            <a:avLst/>
          </a:prstGeom>
          <a:solidFill>
            <a:srgbClr val="D4544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493776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1–5 år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ESSENSEN: Fire uavhengige parallelle strømmer med drastisk ulike hastigheter. Ingen koordinering mellom strømmene. Risiko for motstridende informasjon til helsepersonell og innbyggere.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D05E13A0CAE4FAEB0483BDB291AAE" ma:contentTypeVersion="10" ma:contentTypeDescription="Create a new document." ma:contentTypeScope="" ma:versionID="79aea1d05ac3e5b98de28b9e06920632">
  <xsd:schema xmlns:xsd="http://www.w3.org/2001/XMLSchema" xmlns:xs="http://www.w3.org/2001/XMLSchema" xmlns:p="http://schemas.microsoft.com/office/2006/metadata/properties" xmlns:ns2="1063c122-4bbe-4826-b48d-9d0fb0a65790" xmlns:ns3="6f2d6c3d-a81e-4dca-8790-2d5b1d74c7c5" targetNamespace="http://schemas.microsoft.com/office/2006/metadata/properties" ma:root="true" ma:fieldsID="41760dbbac4dbb66fef1edba5d3279e3" ns2:_="" ns3:_="">
    <xsd:import namespace="1063c122-4bbe-4826-b48d-9d0fb0a65790"/>
    <xsd:import namespace="6f2d6c3d-a81e-4dca-8790-2d5b1d74c7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3c122-4bbe-4826-b48d-9d0fb0a6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bd27e2-62de-4af1-85f7-19d8bf2bfc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d6c3d-a81e-4dca-8790-2d5b1d74c7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604ea7e-7ecf-4376-a85b-280f98472f3a}" ma:internalName="TaxCatchAll" ma:showField="CatchAllData" ma:web="6f2d6c3d-a81e-4dca-8790-2d5b1d74c7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2d6c3d-a81e-4dca-8790-2d5b1d74c7c5" xsi:nil="true"/>
    <lcf76f155ced4ddcb4097134ff3c332f xmlns="1063c122-4bbe-4826-b48d-9d0fb0a6579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BB744D3-1F7F-499E-9BED-C54668B9FA7E}"/>
</file>

<file path=customXml/itemProps2.xml><?xml version="1.0" encoding="utf-8"?>
<ds:datastoreItem xmlns:ds="http://schemas.openxmlformats.org/officeDocument/2006/customXml" ds:itemID="{84A3010E-2DD5-4EE0-AA57-66ECFCA9E783}"/>
</file>

<file path=customXml/itemProps3.xml><?xml version="1.0" encoding="utf-8"?>
<ds:datastoreItem xmlns:ds="http://schemas.openxmlformats.org/officeDocument/2006/customXml" ds:itemID="{4BF8C6DD-73FA-4A72-873A-6E681E4376E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0x010100751D05E13A0CAE4FAEB0483BDB291AAE</vt:lpwstr>
  </property>
</Properties>
</file>