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x="12192000" cy="6858000"/>
  <p:notesSz cx="6858000" cy="9144000"/>
  <p:defaultTextStyle>
    <a:defPPr>
      <a:defRPr lang="en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66326"/>
    <a:srgbClr val="E04002"/>
    <a:srgbClr val="FD6326"/>
    <a:srgbClr val="E00002"/>
    <a:srgbClr val="FF911C"/>
    <a:srgbClr val="FF9102"/>
    <a:srgbClr val="049ECD"/>
    <a:srgbClr val="047FA4"/>
    <a:srgbClr val="BA218B"/>
    <a:srgbClr val="B91D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437" autoAdjust="0"/>
    <p:restoredTop sz="89266"/>
  </p:normalViewPr>
  <p:slideViewPr>
    <p:cSldViewPr snapToGrid="0" showGuides="1">
      <p:cViewPr varScale="1">
        <p:scale>
          <a:sx n="222" d="100"/>
          <a:sy n="222" d="100"/>
        </p:scale>
        <p:origin x="4784" y="-728"/>
      </p:cViewPr>
      <p:guideLst>
        <p:guide orient="horz" pos="2160"/>
        <p:guide pos="3840"/>
      </p:guideLst>
    </p:cSldViewPr>
  </p:slideViewPr>
  <p:notesTextViewPr>
    <p:cViewPr>
      <p:scale>
        <a:sx n="85" d="100"/>
        <a:sy n="85" d="100"/>
      </p:scale>
      <p:origin x="0" y="0"/>
    </p:cViewPr>
  </p:notesTextViewPr>
  <p:sorterViewPr>
    <p:cViewPr>
      <p:scale>
        <a:sx n="130" d="100"/>
        <a:sy n="13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ir Kristian Hansen" userId="2bc69d99-b6de-44dd-9246-e13bcff1bc73" providerId="ADAL" clId="{0CC384CB-8D40-5799-893E-827177588771}"/>
    <pc:docChg chg="undo custSel modSld">
      <pc:chgData name="Geir Kristian Hansen" userId="2bc69d99-b6de-44dd-9246-e13bcff1bc73" providerId="ADAL" clId="{0CC384CB-8D40-5799-893E-827177588771}" dt="2026-06-10T12:21:25.970" v="6" actId="1076"/>
      <pc:docMkLst>
        <pc:docMk/>
      </pc:docMkLst>
      <pc:sldChg chg="modSp mod">
        <pc:chgData name="Geir Kristian Hansen" userId="2bc69d99-b6de-44dd-9246-e13bcff1bc73" providerId="ADAL" clId="{0CC384CB-8D40-5799-893E-827177588771}" dt="2026-06-10T12:21:25.970" v="6" actId="1076"/>
        <pc:sldMkLst>
          <pc:docMk/>
          <pc:sldMk cId="0" sldId="259"/>
        </pc:sldMkLst>
        <pc:spChg chg="mod">
          <ac:chgData name="Geir Kristian Hansen" userId="2bc69d99-b6de-44dd-9246-e13bcff1bc73" providerId="ADAL" clId="{0CC384CB-8D40-5799-893E-827177588771}" dt="2026-06-10T12:21:25.970" v="6" actId="1076"/>
          <ac:spMkLst>
            <pc:docMk/>
            <pc:sldMk cId="0" sldId="259"/>
            <ac:spMk id="4" creationId="{00000000-0000-0000-0000-000000000000}"/>
          </ac:spMkLst>
        </pc:spChg>
        <pc:graphicFrameChg chg="mod modGraphic">
          <ac:chgData name="Geir Kristian Hansen" userId="2bc69d99-b6de-44dd-9246-e13bcff1bc73" providerId="ADAL" clId="{0CC384CB-8D40-5799-893E-827177588771}" dt="2026-06-10T12:21:08.632" v="5" actId="2165"/>
          <ac:graphicFrameMkLst>
            <pc:docMk/>
            <pc:sldMk cId="0" sldId="259"/>
            <ac:graphicFrameMk id="3" creationId="{00000000-0000-0000-0000-000000000000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DEAB89-3ED6-BA48-8C18-5986538B881E}" type="datetimeFigureOut">
              <a:rPr lang="nb-NO" smtClean="0"/>
              <a:t>10.06.2026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219993-DBB6-024A-9B4C-46A2DD21F3A5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955215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DC969169-90CA-C642-D2A3-D4EF78CE2D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76794" y="621653"/>
            <a:ext cx="3079344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6766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rside E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ound Single Corner of Rectangle 5">
            <a:extLst>
              <a:ext uri="{FF2B5EF4-FFF2-40B4-BE49-F238E27FC236}">
                <a16:creationId xmlns:a16="http://schemas.microsoft.com/office/drawing/2014/main" id="{BFECD28A-B69E-4F54-C276-99260D28CD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0" y="0"/>
            <a:ext cx="12192000" cy="4918229"/>
          </a:xfrm>
          <a:prstGeom prst="round1Rect">
            <a:avLst>
              <a:gd name="adj" fmla="val 14069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588A2A-295F-06C4-F34B-DDA0AF875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7244C19D-6F93-5460-EE6C-1891BF2105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84175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8854B41D-D927-3848-062F-33BAEBA1F0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5364170"/>
            <a:ext cx="8642350" cy="360000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Round Single Corner of Rectangle 11">
            <a:extLst>
              <a:ext uri="{FF2B5EF4-FFF2-40B4-BE49-F238E27FC236}">
                <a16:creationId xmlns:a16="http://schemas.microsoft.com/office/drawing/2014/main" id="{9A5807E1-2F61-C5BC-3B43-D9F6EA7D59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flipV="1">
            <a:off x="1774825" y="5734800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9" name="Bilde 8" descr="Et bilde som inneholder tekst, Font, Grafikk, skjermbilde&#10;&#10;Automatisk generert beskrivelse">
            <a:extLst>
              <a:ext uri="{FF2B5EF4-FFF2-40B4-BE49-F238E27FC236}">
                <a16:creationId xmlns:a16="http://schemas.microsoft.com/office/drawing/2014/main" id="{8A6BD20E-C579-09E4-083E-63F1E1E8A2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45321" y="899833"/>
            <a:ext cx="3110817" cy="526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846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loggoblå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62216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ttelside, blå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9FCCDD70-7E5A-0B9D-FE7C-3F33ECA3A8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1230223"/>
            <a:ext cx="8642350" cy="2381430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8EB8F890-2A4D-C84B-FB75-3DC03422A89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74827" y="3867771"/>
            <a:ext cx="8642348" cy="360000"/>
          </a:xfrm>
        </p:spPr>
        <p:txBody>
          <a:bodyPr>
            <a:normAutofit/>
          </a:bodyPr>
          <a:lstStyle>
            <a:lvl1pPr marL="0" indent="0">
              <a:buNone/>
              <a:defRPr sz="2000" b="1" i="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Round Single Corner of Rectangle 7">
            <a:extLst>
              <a:ext uri="{FF2B5EF4-FFF2-40B4-BE49-F238E27FC236}">
                <a16:creationId xmlns:a16="http://schemas.microsoft.com/office/drawing/2014/main" id="{F6556EB0-E7D0-AF6A-6603-880F6632D1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10800000" flipH="1" flipV="1">
            <a:off x="1774825" y="4466843"/>
            <a:ext cx="270000" cy="90000"/>
          </a:xfrm>
          <a:prstGeom prst="round1Rect">
            <a:avLst>
              <a:gd name="adj" fmla="val 44889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pic>
        <p:nvPicPr>
          <p:cNvPr id="3" name="Logo" descr="Logo Helsedirektoratet">
            <a:extLst>
              <a:ext uri="{FF2B5EF4-FFF2-40B4-BE49-F238E27FC236}">
                <a16:creationId xmlns:a16="http://schemas.microsoft.com/office/drawing/2014/main" id="{6E79DADF-D176-FE1C-E671-498BA3A2D3E2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635601" y="625697"/>
            <a:ext cx="2015571" cy="25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1758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69C6D-9AA3-ECC5-BE51-257DC63A20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825" y="800175"/>
            <a:ext cx="8642350" cy="1331912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6000" b="0" i="0">
                <a:solidFill>
                  <a:schemeClr val="bg1"/>
                </a:solidFill>
                <a:latin typeface="Roboto Light" panose="02000000000000000000" pitchFamily="2" charset="0"/>
                <a:ea typeface="Roboto Light" panose="02000000000000000000" pitchFamily="2" charset="0"/>
                <a:cs typeface="Roboto Light" panose="02000000000000000000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DBC91581-FE29-F032-CCCD-7C6348DBFE6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774825" y="2411307"/>
            <a:ext cx="8640763" cy="3897418"/>
          </a:xfrm>
        </p:spPr>
        <p:txBody>
          <a:bodyPr/>
          <a:lstStyle>
            <a:lvl1pPr marL="358775" indent="-358775">
              <a:buFont typeface="+mj-lt"/>
              <a:buAutoNum type="arabicPeriod"/>
              <a:tabLst/>
              <a:defRPr>
                <a:solidFill>
                  <a:schemeClr val="bg1"/>
                </a:solidFill>
              </a:defRPr>
            </a:lvl1pPr>
            <a:lvl2pPr marL="630000" indent="-268288">
              <a:tabLst/>
              <a:defRPr>
                <a:solidFill>
                  <a:schemeClr val="bg1"/>
                </a:solidFill>
              </a:defRPr>
            </a:lvl2pPr>
            <a:lvl3pPr marL="809625" indent="-180000">
              <a:tabLst/>
              <a:defRPr>
                <a:solidFill>
                  <a:schemeClr val="bg1"/>
                </a:solidFill>
              </a:defRPr>
            </a:lvl3pPr>
            <a:lvl4pPr marL="990000" indent="-219075">
              <a:tabLst/>
              <a:defRPr>
                <a:solidFill>
                  <a:schemeClr val="bg1"/>
                </a:solidFill>
              </a:defRPr>
            </a:lvl4pPr>
            <a:lvl5pPr marL="1150938" indent="-171450">
              <a:tabLst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AD46BA44-B440-B0C0-1AC8-DC4C8D44DFB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F55B06F-5D80-114F-9B38-484F4E16F0D6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2CFF1E00-5554-050E-B64A-2E3595FEBEE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7530460A-A795-D6BC-3981-1863D774BCA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2443513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41C96E-2BF6-AF6C-0EF5-CAF5C8D5F9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037C34B-6364-16E2-9BAA-2E5306EE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16E22738-BBB1-88C1-8BB8-57837106EF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C71668-A7BC-5A45-89C3-825413BD1F56}" type="datetime1">
              <a:rPr lang="nb-NO" smtClean="0"/>
              <a:t>10.06.2026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CC9E62E1-B28E-C63B-E538-B35DE2292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07B1AE72-5249-ACBA-C070-ABBF2FAB2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80591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08086" y="1952625"/>
            <a:ext cx="5388588" cy="4356100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8367A3-CA73-F14C-AA34-FC4FBAC4E753}" type="datetime1">
              <a:rPr lang="nb-NO" smtClean="0"/>
              <a:t>10.06.2026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3BE26CA4-BA98-4DD0-885C-3F64413BF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094715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EBD3AE-2C7F-0498-08B2-B1BA038B5B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00063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5" y="2725785"/>
            <a:ext cx="5400675" cy="3582939"/>
          </a:xfrm>
        </p:spPr>
        <p:txBody>
          <a:bodyPr rIns="360000"/>
          <a:lstStyle>
            <a:lvl1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08086" y="1952625"/>
            <a:ext cx="5388587" cy="642529"/>
          </a:xfrm>
        </p:spPr>
        <p:txBody>
          <a:bodyPr rIns="360000" bIns="0" anchor="t" anchorCtr="0"/>
          <a:lstStyle>
            <a:lvl1pPr marL="0" indent="0">
              <a:lnSpc>
                <a:spcPct val="80000"/>
              </a:lnSpc>
              <a:spcBef>
                <a:spcPts val="500"/>
              </a:spcBef>
              <a:buNone/>
              <a:defRPr sz="2400" b="1">
                <a:solidFill>
                  <a:schemeClr val="tx1">
                    <a:lumMod val="90000"/>
                    <a:lumOff val="1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08086" y="2725783"/>
            <a:ext cx="5388587" cy="3582939"/>
          </a:xfrm>
        </p:spPr>
        <p:txBody>
          <a:bodyPr rIns="360000"/>
          <a:lstStyle>
            <a:lvl1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1BD188C6-C475-EEBB-19DD-1E7E57D4EE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5013F20-F216-974D-9AFC-AE3F62853751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12" name="Plassholder for bunntekst 11">
            <a:extLst>
              <a:ext uri="{FF2B5EF4-FFF2-40B4-BE49-F238E27FC236}">
                <a16:creationId xmlns:a16="http://schemas.microsoft.com/office/drawing/2014/main" id="{8B686F46-7932-9981-47F3-786BC2BA51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4" name="Plassholder for lysbildenummer 13">
            <a:extLst>
              <a:ext uri="{FF2B5EF4-FFF2-40B4-BE49-F238E27FC236}">
                <a16:creationId xmlns:a16="http://schemas.microsoft.com/office/drawing/2014/main" id="{DC554CA7-09B4-83A3-E57E-5EA3B1CAD2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0C27FCCD-9AA0-D4E6-92AB-AA7FC2310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092471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6" y="1952626"/>
            <a:ext cx="360203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4C2F6EA-3AD4-B992-0E79-28A87C8644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309446" y="1952626"/>
            <a:ext cx="358519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F33548-D658-F4A3-A123-C7A88D0928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898860" y="1952626"/>
            <a:ext cx="3597814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8BD462-C7BE-3C4A-A1C5-82F71756E724}" type="datetime1">
              <a:rPr lang="nb-NO" smtClean="0"/>
              <a:t>10.06.2026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C23E695F-0ABB-E096-637C-2ECCB48B6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19281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spalter m tit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589007-EE6A-CEE5-F2FA-FE9335F60F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4"/>
            <a:ext cx="3607541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6AD26A-0116-97EC-222C-2E0124CA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95326" y="2682240"/>
            <a:ext cx="3607541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885EAB28-73FB-15AD-8FFA-850775457B5F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314016" y="1952624"/>
            <a:ext cx="3593358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3">
            <a:extLst>
              <a:ext uri="{FF2B5EF4-FFF2-40B4-BE49-F238E27FC236}">
                <a16:creationId xmlns:a16="http://schemas.microsoft.com/office/drawing/2014/main" id="{6714B490-DEDA-F33A-F9B2-0AE24945E319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4314016" y="2682240"/>
            <a:ext cx="3582210" cy="3626485"/>
          </a:xfrm>
        </p:spPr>
        <p:txBody>
          <a:bodyPr rIns="360000"/>
          <a:lstStyle>
            <a:lvl1pPr>
              <a:defRPr sz="2000"/>
            </a:lvl1pPr>
            <a:lvl2pPr>
              <a:defRPr sz="1600"/>
            </a:lvl2pPr>
            <a:lvl3pPr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9E8A8E-D4FD-4060-A885-5E54552CA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7921554" y="1952624"/>
            <a:ext cx="3575120" cy="640800"/>
          </a:xfrm>
        </p:spPr>
        <p:txBody>
          <a:bodyPr rIns="360000" bIns="0" anchor="ctr" anchorCtr="0">
            <a:normAutofit/>
          </a:bodyPr>
          <a:lstStyle>
            <a:lvl1pPr marL="0" indent="0">
              <a:lnSpc>
                <a:spcPct val="90000"/>
              </a:lnSpc>
              <a:spcBef>
                <a:spcPts val="500"/>
              </a:spcBef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9D0006-ABEB-2E7C-4B72-BF63DC731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921553" y="2682240"/>
            <a:ext cx="3575120" cy="3626483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3" name="Plassholder for dato 12">
            <a:extLst>
              <a:ext uri="{FF2B5EF4-FFF2-40B4-BE49-F238E27FC236}">
                <a16:creationId xmlns:a16="http://schemas.microsoft.com/office/drawing/2014/main" id="{ADE11266-A348-59EE-BC97-CD0F4FEA4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7221F62F-3B54-0E42-8AFB-EBC08EA5D715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14" name="Plassholder for bunntekst 13">
            <a:extLst>
              <a:ext uri="{FF2B5EF4-FFF2-40B4-BE49-F238E27FC236}">
                <a16:creationId xmlns:a16="http://schemas.microsoft.com/office/drawing/2014/main" id="{6C8C9645-CF8F-B4DC-A308-EC68F383E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16" name="Plassholder for lysbildenummer 15">
            <a:extLst>
              <a:ext uri="{FF2B5EF4-FFF2-40B4-BE49-F238E27FC236}">
                <a16:creationId xmlns:a16="http://schemas.microsoft.com/office/drawing/2014/main" id="{200AE5F9-1C2E-04BF-1A0A-2C503246A3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ED3C7BFD-1BF8-0A49-36D6-509010B021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215955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un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5C740-A630-4442-9977-AD2D7D793CB7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7" name="Tittel 6">
            <a:extLst>
              <a:ext uri="{FF2B5EF4-FFF2-40B4-BE49-F238E27FC236}">
                <a16:creationId xmlns:a16="http://schemas.microsoft.com/office/drawing/2014/main" id="{19988604-B493-3FD9-9195-963708D49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80214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39969859-2B5A-915B-2E94-B776F4AECB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BFACAA-5F39-9249-80B2-917BDC718A2F}" type="datetime1">
              <a:rPr lang="nb-NO" smtClean="0"/>
              <a:t>10.06.2026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AA734D31-9FD8-A723-F585-288B71A97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C583BFF6-52FA-DCA5-B37A-98E69BBD98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4EDD09-BF3E-D547-AB07-D5CB3C7C5447}" type="slidenum">
              <a:rPr lang="nb-NO" smtClean="0"/>
              <a:t>‹#›</a:t>
            </a:fld>
            <a:endParaRPr lang="nb-NO"/>
          </a:p>
        </p:txBody>
      </p:sp>
      <p:sp>
        <p:nvSpPr>
          <p:cNvPr id="5" name="Tittel 4">
            <a:extLst>
              <a:ext uri="{FF2B5EF4-FFF2-40B4-BE49-F238E27FC236}">
                <a16:creationId xmlns:a16="http://schemas.microsoft.com/office/drawing/2014/main" id="{0301DB44-273E-E161-2A2B-03149E3AE3C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29160"/>
            <a:ext cx="6005593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</p:spTree>
    <p:extLst>
      <p:ext uri="{BB962C8B-B14F-4D97-AF65-F5344CB8AC3E}">
        <p14:creationId xmlns:p14="http://schemas.microsoft.com/office/powerpoint/2010/main" val="6645755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l, maks bred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11A416E-05A1-B14E-C8B2-BA4954892394}"/>
              </a:ext>
            </a:extLst>
          </p:cNvPr>
          <p:cNvSpPr>
            <a:spLocks noGrp="1"/>
          </p:cNvSpPr>
          <p:nvPr>
            <p:ph type="tbl" sz="quarter" idx="13"/>
          </p:nvPr>
        </p:nvSpPr>
        <p:spPr>
          <a:xfrm>
            <a:off x="695325" y="1665288"/>
            <a:ext cx="11161713" cy="4643435"/>
          </a:xfrm>
        </p:spPr>
        <p:txBody>
          <a:bodyPr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table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C7330F-AE98-F741-8C9A-632A2F134DCC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06581D95-703C-10A9-C08A-8C056215A2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622313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Heldekk figur eller bil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 Single Corner of Rectangle 10">
            <a:extLst>
              <a:ext uri="{FF2B5EF4-FFF2-40B4-BE49-F238E27FC236}">
                <a16:creationId xmlns:a16="http://schemas.microsoft.com/office/drawing/2014/main" id="{DCCE9751-D797-3F9B-CB73-AAB9479110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6" name="Grafikk 5">
            <a:extLst>
              <a:ext uri="{FF2B5EF4-FFF2-40B4-BE49-F238E27FC236}">
                <a16:creationId xmlns:a16="http://schemas.microsoft.com/office/drawing/2014/main" id="{9A3756F7-8588-54F7-F8C5-1686144154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8" name="Tittel 7">
            <a:extLst>
              <a:ext uri="{FF2B5EF4-FFF2-40B4-BE49-F238E27FC236}">
                <a16:creationId xmlns:a16="http://schemas.microsoft.com/office/drawing/2014/main" id="{8A524A5A-3E5A-5BD3-F408-4883586510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0" y="-897888"/>
            <a:ext cx="5689626" cy="720000"/>
          </a:xfrm>
        </p:spPr>
        <p:txBody>
          <a:bodyPr anchor="b">
            <a:normAutofit/>
          </a:bodyPr>
          <a:lstStyle>
            <a:lvl1pPr>
              <a:defRPr sz="1400"/>
            </a:lvl1pPr>
          </a:lstStyle>
          <a:p>
            <a:r>
              <a:rPr lang="nb-NO" dirty="0"/>
              <a:t>Sett inn tittel for skjermopplesing</a:t>
            </a:r>
          </a:p>
        </p:txBody>
      </p:sp>
      <p:sp>
        <p:nvSpPr>
          <p:cNvPr id="7" name="Plassholder for bilde 6">
            <a:extLst>
              <a:ext uri="{FF2B5EF4-FFF2-40B4-BE49-F238E27FC236}">
                <a16:creationId xmlns:a16="http://schemas.microsoft.com/office/drawing/2014/main" id="{6EEAD077-2144-0091-7319-C3583D2D327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</p:spPr>
        <p:txBody>
          <a:bodyPr tIns="360000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E2D02-6F39-5C40-A77B-F462C85A0336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7803398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4" name="Plassholder for bilde 3">
            <a:extLst>
              <a:ext uri="{FF2B5EF4-FFF2-40B4-BE49-F238E27FC236}">
                <a16:creationId xmlns:a16="http://schemas.microsoft.com/office/drawing/2014/main" id="{0D62D2AC-F204-5052-A344-37748CC26544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D579B6-F561-5B40-8A35-E8542372936F}" type="datetime1">
              <a:rPr lang="nb-NO" smtClean="0"/>
              <a:t>10.06.2026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9" name="Tittel 8">
            <a:extLst>
              <a:ext uri="{FF2B5EF4-FFF2-40B4-BE49-F238E27FC236}">
                <a16:creationId xmlns:a16="http://schemas.microsoft.com/office/drawing/2014/main" id="{E6C509A6-A612-4A8B-066D-F3C084F72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5400674" cy="1044575"/>
          </a:xfrm>
        </p:spPr>
        <p:txBody>
          <a:bodyPr r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  <p:pic>
        <p:nvPicPr>
          <p:cNvPr id="12" name="Grafikk 11">
            <a:extLst>
              <a:ext uri="{FF2B5EF4-FFF2-40B4-BE49-F238E27FC236}">
                <a16:creationId xmlns:a16="http://schemas.microsoft.com/office/drawing/2014/main" id="{3C3D7062-D60D-2C06-81F5-884FB615C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0237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v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7AABFB-A43B-39B6-5C39-C65603B53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5" y="620713"/>
            <a:ext cx="5400675" cy="1044575"/>
          </a:xfrm>
        </p:spPr>
        <p:txBody>
          <a:bodyPr rIns="360000" anchor="ctr" anchorCtr="0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95325" y="1952625"/>
            <a:ext cx="5400675" cy="4356100"/>
          </a:xfrm>
        </p:spPr>
        <p:txBody>
          <a:bodyPr rIns="36000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lassholder for bilde 14">
            <a:extLst>
              <a:ext uri="{FF2B5EF4-FFF2-40B4-BE49-F238E27FC236}">
                <a16:creationId xmlns:a16="http://schemas.microsoft.com/office/drawing/2014/main" id="{BD8F9827-3EF3-3D0A-255F-528EB364E4C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09600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6096000 w 6096000"/>
              <a:gd name="connsiteY1" fmla="*/ 0 h 6858000"/>
              <a:gd name="connsiteX2" fmla="*/ 6096000 w 6096000"/>
              <a:gd name="connsiteY2" fmla="*/ 5369435 h 6858000"/>
              <a:gd name="connsiteX3" fmla="*/ 6096000 w 6096000"/>
              <a:gd name="connsiteY3" fmla="*/ 5943600 h 6858000"/>
              <a:gd name="connsiteX4" fmla="*/ 6096000 w 6096000"/>
              <a:gd name="connsiteY4" fmla="*/ 6134993 h 6858000"/>
              <a:gd name="connsiteX5" fmla="*/ 5372993 w 6096000"/>
              <a:gd name="connsiteY5" fmla="*/ 6858000 h 6858000"/>
              <a:gd name="connsiteX6" fmla="*/ 5181600 w 6096000"/>
              <a:gd name="connsiteY6" fmla="*/ 6858000 h 6858000"/>
              <a:gd name="connsiteX7" fmla="*/ 3948216 w 6096000"/>
              <a:gd name="connsiteY7" fmla="*/ 6858000 h 6858000"/>
              <a:gd name="connsiteX8" fmla="*/ 0 w 6096000"/>
              <a:gd name="connsiteY8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6096000" y="0"/>
                </a:lnTo>
                <a:lnTo>
                  <a:pt x="6096000" y="5369435"/>
                </a:lnTo>
                <a:lnTo>
                  <a:pt x="6096000" y="5943600"/>
                </a:lnTo>
                <a:lnTo>
                  <a:pt x="6096000" y="6134993"/>
                </a:lnTo>
                <a:cubicBezTo>
                  <a:pt x="6096000" y="6534299"/>
                  <a:pt x="5772299" y="6858000"/>
                  <a:pt x="5372993" y="6858000"/>
                </a:cubicBezTo>
                <a:lnTo>
                  <a:pt x="5181600" y="6858000"/>
                </a:lnTo>
                <a:lnTo>
                  <a:pt x="3948216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D6D16768-56C7-1340-B787-3ABF6BC6BB4B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endParaRPr lang="nb-NO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  <p:pic>
        <p:nvPicPr>
          <p:cNvPr id="13" name="Grafikk 12">
            <a:extLst>
              <a:ext uri="{FF2B5EF4-FFF2-40B4-BE49-F238E27FC236}">
                <a16:creationId xmlns:a16="http://schemas.microsoft.com/office/drawing/2014/main" id="{98A08ECE-605C-49AF-4ABC-1011EFDEFD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18532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ly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defRPr sz="20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96601-90BC-5A4F-A072-34692FF42E51}" type="datetime1">
              <a:rPr lang="nb-NO" smtClean="0"/>
              <a:t>10.06.2026</a:t>
            </a:fld>
            <a:endParaRPr lang="nb-NO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/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3214785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odelt h, mør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CF4C90-63C2-709C-872A-EC3FE3414A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0" y="1952625"/>
            <a:ext cx="5400675" cy="4356100"/>
          </a:xfrm>
        </p:spPr>
        <p:txBody>
          <a:bodyPr lIns="360000" rIns="0"/>
          <a:lstStyle>
            <a:lvl1pPr>
              <a:buClrTx/>
              <a:defRPr sz="20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  <a:lvl2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2pPr>
            <a:lvl3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3pPr>
            <a:lvl4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4pPr>
            <a:lvl5pPr>
              <a:lnSpc>
                <a:spcPct val="110000"/>
              </a:lnSpc>
              <a:defRPr sz="1600">
                <a:solidFill>
                  <a:schemeClr val="bg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9C7BF90D-8F29-40C1-CA2D-19D8878F4A6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096000" cy="6858000"/>
          </a:xfrm>
          <a:custGeom>
            <a:avLst/>
            <a:gdLst>
              <a:gd name="connsiteX0" fmla="*/ 0 w 6096000"/>
              <a:gd name="connsiteY0" fmla="*/ 0 h 6858000"/>
              <a:gd name="connsiteX1" fmla="*/ 1391920 w 6096000"/>
              <a:gd name="connsiteY1" fmla="*/ 0 h 6858000"/>
              <a:gd name="connsiteX2" fmla="*/ 1391920 w 6096000"/>
              <a:gd name="connsiteY2" fmla="*/ 0 h 6858000"/>
              <a:gd name="connsiteX3" fmla="*/ 4704080 w 6096000"/>
              <a:gd name="connsiteY3" fmla="*/ 0 h 6858000"/>
              <a:gd name="connsiteX4" fmla="*/ 5384780 w 6096000"/>
              <a:gd name="connsiteY4" fmla="*/ 0 h 6858000"/>
              <a:gd name="connsiteX5" fmla="*/ 6096000 w 6096000"/>
              <a:gd name="connsiteY5" fmla="*/ 0 h 6858000"/>
              <a:gd name="connsiteX6" fmla="*/ 6096000 w 6096000"/>
              <a:gd name="connsiteY6" fmla="*/ 711220 h 6858000"/>
              <a:gd name="connsiteX7" fmla="*/ 6096000 w 6096000"/>
              <a:gd name="connsiteY7" fmla="*/ 1391920 h 6858000"/>
              <a:gd name="connsiteX8" fmla="*/ 6096000 w 6096000"/>
              <a:gd name="connsiteY8" fmla="*/ 6146780 h 6858000"/>
              <a:gd name="connsiteX9" fmla="*/ 5384780 w 6096000"/>
              <a:gd name="connsiteY9" fmla="*/ 6858000 h 6858000"/>
              <a:gd name="connsiteX10" fmla="*/ 1391920 w 6096000"/>
              <a:gd name="connsiteY10" fmla="*/ 6858000 h 6858000"/>
              <a:gd name="connsiteX11" fmla="*/ 711220 w 6096000"/>
              <a:gd name="connsiteY11" fmla="*/ 6858000 h 6858000"/>
              <a:gd name="connsiteX12" fmla="*/ 0 w 6096000"/>
              <a:gd name="connsiteY12" fmla="*/ 6858000 h 6858000"/>
              <a:gd name="connsiteX13" fmla="*/ 0 w 6096000"/>
              <a:gd name="connsiteY13" fmla="*/ 5466080 h 6858000"/>
              <a:gd name="connsiteX14" fmla="*/ 0 w 6096000"/>
              <a:gd name="connsiteY14" fmla="*/ 5466080 h 6858000"/>
              <a:gd name="connsiteX15" fmla="*/ 0 w 6096000"/>
              <a:gd name="connsiteY15" fmla="*/ 1391920 h 6858000"/>
              <a:gd name="connsiteX16" fmla="*/ 0 w 6096000"/>
              <a:gd name="connsiteY16" fmla="*/ 13919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6096000" h="6858000">
                <a:moveTo>
                  <a:pt x="0" y="0"/>
                </a:moveTo>
                <a:lnTo>
                  <a:pt x="1391920" y="0"/>
                </a:lnTo>
                <a:lnTo>
                  <a:pt x="1391920" y="0"/>
                </a:lnTo>
                <a:lnTo>
                  <a:pt x="4704080" y="0"/>
                </a:lnTo>
                <a:lnTo>
                  <a:pt x="5384780" y="0"/>
                </a:lnTo>
                <a:lnTo>
                  <a:pt x="6096000" y="0"/>
                </a:lnTo>
                <a:lnTo>
                  <a:pt x="6096000" y="711220"/>
                </a:lnTo>
                <a:lnTo>
                  <a:pt x="6096000" y="1391920"/>
                </a:lnTo>
                <a:lnTo>
                  <a:pt x="6096000" y="6146780"/>
                </a:lnTo>
                <a:cubicBezTo>
                  <a:pt x="6096000" y="6539576"/>
                  <a:pt x="5777576" y="6858000"/>
                  <a:pt x="5384780" y="6858000"/>
                </a:cubicBezTo>
                <a:lnTo>
                  <a:pt x="1391920" y="6858000"/>
                </a:lnTo>
                <a:lnTo>
                  <a:pt x="711220" y="6858000"/>
                </a:lnTo>
                <a:lnTo>
                  <a:pt x="0" y="6858000"/>
                </a:lnTo>
                <a:lnTo>
                  <a:pt x="0" y="5466080"/>
                </a:lnTo>
                <a:lnTo>
                  <a:pt x="0" y="5466080"/>
                </a:lnTo>
                <a:lnTo>
                  <a:pt x="0" y="1391920"/>
                </a:lnTo>
                <a:lnTo>
                  <a:pt x="0" y="139192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07F0A7-4F91-0952-D11B-33CAE15635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568E919-AB03-974F-884F-D75D3847DBE4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9ADB7D-4B47-2A51-5ED7-8458F24EE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nb-NO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F29663-9401-CCED-CB5B-26BB9CC1A1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/>
          </a:p>
        </p:txBody>
      </p:sp>
      <p:sp>
        <p:nvSpPr>
          <p:cNvPr id="10" name="Tittel 9">
            <a:extLst>
              <a:ext uri="{FF2B5EF4-FFF2-40B4-BE49-F238E27FC236}">
                <a16:creationId xmlns:a16="http://schemas.microsoft.com/office/drawing/2014/main" id="{FC882582-0281-E799-94B4-4E5283207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9" y="620713"/>
            <a:ext cx="5400675" cy="1044575"/>
          </a:xfrm>
        </p:spPr>
        <p:txBody>
          <a:bodyPr lIns="360000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068780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liten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uide">
            <a:extLst>
              <a:ext uri="{FF2B5EF4-FFF2-40B4-BE49-F238E27FC236}">
                <a16:creationId xmlns:a16="http://schemas.microsoft.com/office/drawing/2014/main" id="{699A2402-4AD5-7C27-A860-2798A9BEEE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13919" y="549275"/>
            <a:ext cx="1293593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17" name="Bilde">
            <a:extLst>
              <a:ext uri="{FF2B5EF4-FFF2-40B4-BE49-F238E27FC236}">
                <a16:creationId xmlns:a16="http://schemas.microsoft.com/office/drawing/2014/main" id="{564D2DC8-0601-F2BC-389F-6617CEB91D9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1" cy="6858000"/>
          </a:xfrm>
          <a:custGeom>
            <a:avLst/>
            <a:gdLst>
              <a:gd name="connsiteX0" fmla="*/ 0 w 12192001"/>
              <a:gd name="connsiteY0" fmla="*/ 0 h 6858000"/>
              <a:gd name="connsiteX1" fmla="*/ 12192001 w 12192001"/>
              <a:gd name="connsiteY1" fmla="*/ 0 h 6858000"/>
              <a:gd name="connsiteX2" fmla="*/ 12192001 w 12192001"/>
              <a:gd name="connsiteY2" fmla="*/ 6858000 h 6858000"/>
              <a:gd name="connsiteX3" fmla="*/ 0 w 12192001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192001" h="6858000">
                <a:moveTo>
                  <a:pt x="0" y="0"/>
                </a:moveTo>
                <a:lnTo>
                  <a:pt x="12192001" y="0"/>
                </a:lnTo>
                <a:lnTo>
                  <a:pt x="12192001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 tIns="360000">
            <a:noAutofit/>
          </a:bodyPr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nb-NO"/>
          </a:p>
        </p:txBody>
      </p:sp>
      <p:sp>
        <p:nvSpPr>
          <p:cNvPr id="15" name="Tekst">
            <a:extLst>
              <a:ext uri="{FF2B5EF4-FFF2-40B4-BE49-F238E27FC236}">
                <a16:creationId xmlns:a16="http://schemas.microsoft.com/office/drawing/2014/main" id="{80619626-4239-8766-8457-9BD604F819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6588" y="620713"/>
            <a:ext cx="3240000" cy="3095625"/>
          </a:xfrm>
          <a:prstGeom prst="round1Rect">
            <a:avLst>
              <a:gd name="adj" fmla="val 13232"/>
            </a:avLst>
          </a:prstGeom>
          <a:solidFill>
            <a:schemeClr val="bg1"/>
          </a:solidFill>
        </p:spPr>
        <p:txBody>
          <a:bodyPr wrap="square" lIns="288000" tIns="720000" rIns="288000" bIns="288000">
            <a:noAutofit/>
          </a:bodyPr>
          <a:lstStyle>
            <a:lvl1pPr marL="0" indent="-270000">
              <a:lnSpc>
                <a:spcPct val="120000"/>
              </a:lnSpc>
              <a:spcBef>
                <a:spcPts val="500"/>
              </a:spcBef>
              <a:buNone/>
              <a:defRPr sz="1800"/>
            </a:lvl1pPr>
            <a:lvl2pPr marL="0" indent="-2700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9" name="Graphic">
            <a:extLst>
              <a:ext uri="{FF2B5EF4-FFF2-40B4-BE49-F238E27FC236}">
                <a16:creationId xmlns:a16="http://schemas.microsoft.com/office/drawing/2014/main" id="{52675333-694D-0924-A96E-4336D20837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69111" y="927407"/>
            <a:ext cx="273600" cy="900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 anchor="ctr">
            <a:normAutofit/>
          </a:bodyPr>
          <a:lstStyle>
            <a:lvl1pPr marL="0" indent="0" algn="r">
              <a:buNone/>
              <a:defRPr sz="100">
                <a:solidFill>
                  <a:schemeClr val="accent1"/>
                </a:solidFill>
              </a:defRPr>
            </a:lvl1pPr>
            <a:lvl2pPr marL="275400" indent="0">
              <a:buNone/>
              <a:defRPr/>
            </a:lvl2pPr>
            <a:lvl3pPr marL="491400" indent="0">
              <a:buNone/>
              <a:defRPr/>
            </a:lvl3pPr>
            <a:lvl4pPr marL="707400" indent="0">
              <a:buNone/>
              <a:defRPr/>
            </a:lvl4pPr>
            <a:lvl5pPr marL="923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886E30-E647-A7B1-20FD-2D7AE67DA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5E79B3-FEAD-1D43-94FA-C03DF327079F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1C4546F-4602-94E2-3EE7-C9A968699A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B6D611-E0DF-AAEA-6369-E3B0EE39B4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08242631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eldekk bilde, stor tekstblok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F352013-EA5A-9DF7-ECA6-48E28A9F3FB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1" cy="6858000"/>
          </a:xfrm>
          <a:solidFill>
            <a:schemeClr val="bg2"/>
          </a:solidFill>
        </p:spPr>
        <p:txBody>
          <a:bodyPr/>
          <a:lstStyle/>
          <a:p>
            <a:r>
              <a:rPr lang="en-US"/>
              <a:t>Click icon to add picture</a:t>
            </a:r>
            <a:endParaRPr lang="nb-NO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8191E82-2792-D04C-A995-820EA7D9137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831836" y="620712"/>
            <a:ext cx="4664751" cy="4059661"/>
          </a:xfrm>
          <a:prstGeom prst="round1Rect">
            <a:avLst>
              <a:gd name="adj" fmla="val 17649"/>
            </a:avLst>
          </a:prstGeom>
          <a:solidFill>
            <a:schemeClr val="bg1"/>
          </a:solidFill>
        </p:spPr>
        <p:txBody>
          <a:bodyPr lIns="360000" tIns="1080000" rIns="288000" bIns="288000">
            <a:normAutofit/>
          </a:bodyPr>
          <a:lstStyle>
            <a:lvl1pPr marL="0" indent="0">
              <a:lnSpc>
                <a:spcPct val="100000"/>
              </a:lnSpc>
              <a:buNone/>
              <a:defRPr sz="3600" b="1">
                <a:solidFill>
                  <a:schemeClr val="accent1"/>
                </a:solidFill>
              </a:defRPr>
            </a:lvl1pPr>
            <a:lvl2pPr marL="618300" indent="-342900">
              <a:buFont typeface="Arial" panose="020B0604020202020204" pitchFamily="34" charset="0"/>
              <a:buChar char="•"/>
              <a:defRPr sz="1800"/>
            </a:lvl2pPr>
            <a:lvl3pPr marL="491400" indent="0">
              <a:buNone/>
              <a:defRPr sz="2400"/>
            </a:lvl3pPr>
            <a:lvl4pPr marL="707400" indent="0">
              <a:buNone/>
              <a:defRPr sz="2400"/>
            </a:lvl4pPr>
            <a:lvl5pPr marL="923400" indent="0">
              <a:buNone/>
              <a:defRPr sz="2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49859A-F13F-644E-5B05-EDEDB1F1C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282388" y="858777"/>
            <a:ext cx="1278629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b-NO" sz="1200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Blokken plasseres i det hjørnet som passer bildet best.</a:t>
            </a:r>
          </a:p>
          <a:p>
            <a:pPr algn="l"/>
            <a:endParaRPr lang="nb-NO" sz="1200" dirty="0"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  <a:p>
            <a:pPr algn="l"/>
            <a:r>
              <a:rPr lang="nb-NO" sz="1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NB. Bruk hjelpelinjer!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F06F01F7-3339-FA99-42DD-C2DF02D3F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213346" y="1064315"/>
            <a:ext cx="1782000" cy="237600"/>
          </a:xfr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>
            <a:normAutofit/>
          </a:bodyPr>
          <a:lstStyle>
            <a:lvl1pPr marL="0" indent="0">
              <a:buNone/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05000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pplis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ktangel med ett avrundet hjørne 26">
            <a:extLst>
              <a:ext uri="{FF2B5EF4-FFF2-40B4-BE49-F238E27FC236}">
                <a16:creationId xmlns:a16="http://schemas.microsoft.com/office/drawing/2014/main" id="{57F1973D-87A7-31BA-5017-C2C9E3CAAD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0" name="Rektangel med ett avrundet hjørne 29">
            <a:extLst>
              <a:ext uri="{FF2B5EF4-FFF2-40B4-BE49-F238E27FC236}">
                <a16:creationId xmlns:a16="http://schemas.microsoft.com/office/drawing/2014/main" id="{0C3E80C0-C4B1-95B1-AA3D-B059C4A963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1688482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3" name="Rektangel med ett avrundet hjørne 32">
            <a:extLst>
              <a:ext uri="{FF2B5EF4-FFF2-40B4-BE49-F238E27FC236}">
                <a16:creationId xmlns:a16="http://schemas.microsoft.com/office/drawing/2014/main" id="{110BC27A-6FBD-D397-7A5E-0841EB5C94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8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36" name="Rektangel med ett avrundet hjørne 35">
            <a:extLst>
              <a:ext uri="{FF2B5EF4-FFF2-40B4-BE49-F238E27FC236}">
                <a16:creationId xmlns:a16="http://schemas.microsoft.com/office/drawing/2014/main" id="{A6E8226A-22D1-57C5-927C-D2689E38F2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21647" y="3217280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4" name="Rektangel med ett avrundet hjørne 23">
            <a:extLst>
              <a:ext uri="{FF2B5EF4-FFF2-40B4-BE49-F238E27FC236}">
                <a16:creationId xmlns:a16="http://schemas.microsoft.com/office/drawing/2014/main" id="{A46BDC32-E732-2035-0CC8-37F80F2173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861455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2" name="Rektangel med ett avrundet hjørne 1">
            <a:extLst>
              <a:ext uri="{FF2B5EF4-FFF2-40B4-BE49-F238E27FC236}">
                <a16:creationId xmlns:a16="http://schemas.microsoft.com/office/drawing/2014/main" id="{7B97D543-633A-6552-C816-8F0F13409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 rot="5400000">
            <a:off x="2738299" y="158238"/>
            <a:ext cx="1080000" cy="4679951"/>
          </a:xfrm>
          <a:prstGeom prst="round1Rect">
            <a:avLst>
              <a:gd name="adj" fmla="val 2844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6" name="Tittel 5">
            <a:extLst>
              <a:ext uri="{FF2B5EF4-FFF2-40B4-BE49-F238E27FC236}">
                <a16:creationId xmlns:a16="http://schemas.microsoft.com/office/drawing/2014/main" id="{F0FAF3CA-699C-8696-9D6C-E2384ED0F3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16" name="Plassholder for tekst 15">
            <a:extLst>
              <a:ext uri="{FF2B5EF4-FFF2-40B4-BE49-F238E27FC236}">
                <a16:creationId xmlns:a16="http://schemas.microsoft.com/office/drawing/2014/main" id="{F29D663A-5C67-AD4F-41B3-AC2A4A9995CE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69532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3832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9" name="Plassholder for tekst 15">
            <a:extLst>
              <a:ext uri="{FF2B5EF4-FFF2-40B4-BE49-F238E27FC236}">
                <a16:creationId xmlns:a16="http://schemas.microsoft.com/office/drawing/2014/main" id="{997E195F-8DE9-F78D-8F18-A6E182FDC6B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695324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938324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5" name="Plassholder for tekst 15">
            <a:extLst>
              <a:ext uri="{FF2B5EF4-FFF2-40B4-BE49-F238E27FC236}">
                <a16:creationId xmlns:a16="http://schemas.microsoft.com/office/drawing/2014/main" id="{DBA1CFA1-FA6C-8F96-D8D8-2D9DC7FF6FC5}"/>
              </a:ext>
            </a:extLst>
          </p:cNvPr>
          <p:cNvSpPr>
            <a:spLocks noGrp="1" noChangeAspect="1"/>
          </p:cNvSpPr>
          <p:nvPr>
            <p:ph type="body" sz="quarter" idx="22" hasCustomPrompt="1"/>
          </p:nvPr>
        </p:nvSpPr>
        <p:spPr>
          <a:xfrm>
            <a:off x="695324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938324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6" name="Plassholder for tekst 15">
            <a:extLst>
              <a:ext uri="{FF2B5EF4-FFF2-40B4-BE49-F238E27FC236}">
                <a16:creationId xmlns:a16="http://schemas.microsoft.com/office/drawing/2014/main" id="{EE1DA772-A280-4F5A-BD2C-39DD6DF4E942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6571585" y="1760815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814585" y="1958213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2" name="Plassholder for tekst 15">
            <a:extLst>
              <a:ext uri="{FF2B5EF4-FFF2-40B4-BE49-F238E27FC236}">
                <a16:creationId xmlns:a16="http://schemas.microsoft.com/office/drawing/2014/main" id="{8A437FEB-21C6-134C-5E1C-7E929033D20D}"/>
              </a:ext>
            </a:extLst>
          </p:cNvPr>
          <p:cNvSpPr>
            <a:spLocks noGrp="1" noChangeAspect="1"/>
          </p:cNvSpPr>
          <p:nvPr>
            <p:ph type="body" sz="quarter" idx="20" hasCustomPrompt="1"/>
          </p:nvPr>
        </p:nvSpPr>
        <p:spPr>
          <a:xfrm>
            <a:off x="6578673" y="3291059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6821673" y="3488457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8" name="Plassholder for tekst 15">
            <a:extLst>
              <a:ext uri="{FF2B5EF4-FFF2-40B4-BE49-F238E27FC236}">
                <a16:creationId xmlns:a16="http://schemas.microsoft.com/office/drawing/2014/main" id="{0D7A17EC-6223-04C9-0860-2C38C438F067}"/>
              </a:ext>
            </a:extLst>
          </p:cNvPr>
          <p:cNvSpPr>
            <a:spLocks noGrp="1" noChangeAspect="1"/>
          </p:cNvSpPr>
          <p:nvPr>
            <p:ph type="body" sz="quarter" idx="24" hasCustomPrompt="1"/>
          </p:nvPr>
        </p:nvSpPr>
        <p:spPr>
          <a:xfrm>
            <a:off x="6578673" y="4819857"/>
            <a:ext cx="486000" cy="486000"/>
          </a:xfrm>
          <a:prstGeom prst="ellipse">
            <a:avLst/>
          </a:prstGeom>
          <a:solidFill>
            <a:schemeClr val="accent3"/>
          </a:solidFill>
        </p:spPr>
        <p:txBody>
          <a:bodyPr wrap="none" anchor="ctr">
            <a:normAutofit/>
          </a:bodyPr>
          <a:lstStyle>
            <a:lvl1pPr marL="0" indent="0" algn="ctr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b-NO" dirty="0"/>
              <a:t>#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821673" y="5017255"/>
            <a:ext cx="4679950" cy="1080001"/>
          </a:xfrm>
          <a:prstGeom prst="rect">
            <a:avLst/>
          </a:prstGeom>
          <a:noFill/>
        </p:spPr>
        <p:txBody>
          <a:bodyPr lIns="251999" tIns="144000" rIns="144000" bIns="0"/>
          <a:lstStyle>
            <a:lvl1pPr marL="0" indent="0">
              <a:buNone/>
              <a:defRPr sz="15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C7A3C-63FD-524A-8E9D-1DF035FE335C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18318782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kon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uppe 7">
            <a:extLst>
              <a:ext uri="{FF2B5EF4-FFF2-40B4-BE49-F238E27FC236}">
                <a16:creationId xmlns:a16="http://schemas.microsoft.com/office/drawing/2014/main" id="{E08352A1-88C0-5E8C-2138-B508E1591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Move="1" noResize="1"/>
          </p:cNvGrpSpPr>
          <p:nvPr userDrawn="1"/>
        </p:nvGrpSpPr>
        <p:grpSpPr>
          <a:xfrm>
            <a:off x="692149" y="1857478"/>
            <a:ext cx="10807001" cy="4463270"/>
            <a:chOff x="692149" y="1857478"/>
            <a:chExt cx="10807001" cy="4463270"/>
          </a:xfrm>
        </p:grpSpPr>
        <p:cxnSp>
          <p:nvCxnSpPr>
            <p:cNvPr id="6" name="Rett linje 63">
              <a:extLst>
                <a:ext uri="{FF2B5EF4-FFF2-40B4-BE49-F238E27FC236}">
                  <a16:creationId xmlns:a16="http://schemas.microsoft.com/office/drawing/2014/main" id="{7C5DB0C2-D68A-F349-7331-C973E67287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>
              <a:off x="6096000" y="1867548"/>
              <a:ext cx="0" cy="445320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Rett linje 63">
              <a:extLst>
                <a:ext uri="{FF2B5EF4-FFF2-40B4-BE49-F238E27FC236}">
                  <a16:creationId xmlns:a16="http://schemas.microsoft.com/office/drawing/2014/main" id="{22EFB831-8E31-F061-973A-1649A97CD4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149" y="1857478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Rett linje 63">
              <a:extLst>
                <a:ext uri="{FF2B5EF4-FFF2-40B4-BE49-F238E27FC236}">
                  <a16:creationId xmlns:a16="http://schemas.microsoft.com/office/drawing/2014/main" id="{03A730AD-F9D3-5EAC-C952-815ACC2584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3341311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Rett linje 63">
              <a:extLst>
                <a:ext uri="{FF2B5EF4-FFF2-40B4-BE49-F238E27FC236}">
                  <a16:creationId xmlns:a16="http://schemas.microsoft.com/office/drawing/2014/main" id="{97D6C36A-4CD6-DEEE-921E-F5E16C14D7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 noGrp="1" noRot="1" noMove="1" noResize="1" noEditPoints="1" noAdjustHandles="1" noChangeArrowheads="1" noChangeShapeType="1"/>
            </p:cNvCxnSpPr>
            <p:nvPr userDrawn="1"/>
          </p:nvCxnSpPr>
          <p:spPr>
            <a:xfrm flipV="1">
              <a:off x="692850" y="4825144"/>
              <a:ext cx="10806300" cy="0"/>
            </a:xfrm>
            <a:prstGeom prst="line">
              <a:avLst/>
            </a:prstGeom>
            <a:ln>
              <a:solidFill>
                <a:schemeClr val="accent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tel 1">
            <a:extLst>
              <a:ext uri="{FF2B5EF4-FFF2-40B4-BE49-F238E27FC236}">
                <a16:creationId xmlns:a16="http://schemas.microsoft.com/office/drawing/2014/main" id="{060ED2AE-977F-6449-9141-8BD81063A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nb-NO"/>
          </a:p>
        </p:txBody>
      </p:sp>
      <p:sp>
        <p:nvSpPr>
          <p:cNvPr id="21" name="Plassholder for bilde 20">
            <a:extLst>
              <a:ext uri="{FF2B5EF4-FFF2-40B4-BE49-F238E27FC236}">
                <a16:creationId xmlns:a16="http://schemas.microsoft.com/office/drawing/2014/main" id="{A82E6AC2-6F25-A2A3-6CB4-36C7C2FB5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692149" y="1994638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EC989AF-3EEE-FBB8-45EE-BE1F3FDB7113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2058288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2" name="Plassholder for bilde 20">
            <a:extLst>
              <a:ext uri="{FF2B5EF4-FFF2-40B4-BE49-F238E27FC236}">
                <a16:creationId xmlns:a16="http://schemas.microsoft.com/office/drawing/2014/main" id="{E880C591-49FA-A4B7-1314-2F8ED4F3C7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5" hasCustomPrompt="1"/>
          </p:nvPr>
        </p:nvSpPr>
        <p:spPr>
          <a:xfrm>
            <a:off x="692149" y="3478471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8" name="Content Placeholder 8">
            <a:extLst>
              <a:ext uri="{FF2B5EF4-FFF2-40B4-BE49-F238E27FC236}">
                <a16:creationId xmlns:a16="http://schemas.microsoft.com/office/drawing/2014/main" id="{7D94495B-5B41-AB85-EFB5-F7BCDD3B9A56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05828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23" name="Plassholder for bilde 20">
            <a:extLst>
              <a:ext uri="{FF2B5EF4-FFF2-40B4-BE49-F238E27FC236}">
                <a16:creationId xmlns:a16="http://schemas.microsoft.com/office/drawing/2014/main" id="{42793EC4-7310-EB6F-1920-C87E7CFE77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6" hasCustomPrompt="1"/>
          </p:nvPr>
        </p:nvSpPr>
        <p:spPr>
          <a:xfrm>
            <a:off x="692149" y="4962304"/>
            <a:ext cx="1116000" cy="1114360"/>
          </a:xfrm>
          <a:prstGeom prst="ellipse">
            <a:avLst/>
          </a:prstGeom>
          <a:solidFill>
            <a:schemeClr val="accent1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4" name="Content Placeholder 8">
            <a:extLst>
              <a:ext uri="{FF2B5EF4-FFF2-40B4-BE49-F238E27FC236}">
                <a16:creationId xmlns:a16="http://schemas.microsoft.com/office/drawing/2014/main" id="{DD6A0E02-7C35-CB51-E4AF-15050A867F5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205828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9" name="Plassholder for bilde 20">
            <a:extLst>
              <a:ext uri="{FF2B5EF4-FFF2-40B4-BE49-F238E27FC236}">
                <a16:creationId xmlns:a16="http://schemas.microsoft.com/office/drawing/2014/main" id="{7F97DC73-3E9C-05A1-343B-19AF324DF0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7" hasCustomPrompt="1"/>
          </p:nvPr>
        </p:nvSpPr>
        <p:spPr>
          <a:xfrm>
            <a:off x="6348670" y="1994638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2D9B7D40-8517-2455-FD70-F54269A1E141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7717339" y="2070838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0" name="Plassholder for bilde 20">
            <a:extLst>
              <a:ext uri="{FF2B5EF4-FFF2-40B4-BE49-F238E27FC236}">
                <a16:creationId xmlns:a16="http://schemas.microsoft.com/office/drawing/2014/main" id="{E967C2DD-340A-97E2-5EA9-A2BE5BCBB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6348670" y="3478471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1" name="Content Placeholder 8">
            <a:extLst>
              <a:ext uri="{FF2B5EF4-FFF2-40B4-BE49-F238E27FC236}">
                <a16:creationId xmlns:a16="http://schemas.microsoft.com/office/drawing/2014/main" id="{5AA9D345-D396-F630-94B7-C83495E161AB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7724427" y="3554671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41" name="Plassholder for bilde 20">
            <a:extLst>
              <a:ext uri="{FF2B5EF4-FFF2-40B4-BE49-F238E27FC236}">
                <a16:creationId xmlns:a16="http://schemas.microsoft.com/office/drawing/2014/main" id="{2BE01866-2F5C-245D-5511-23E6F2F6AE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48670" y="4962304"/>
            <a:ext cx="1116000" cy="1114360"/>
          </a:xfrm>
          <a:prstGeom prst="ellipse">
            <a:avLst/>
          </a:prstGeom>
          <a:solidFill>
            <a:schemeClr val="accent3"/>
          </a:solidFill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050">
                <a:solidFill>
                  <a:schemeClr val="bg1"/>
                </a:solidFill>
              </a:defRPr>
            </a:lvl1pPr>
          </a:lstStyle>
          <a:p>
            <a:r>
              <a:rPr lang="nb-NO" dirty="0"/>
              <a:t>Sett inn ikon</a:t>
            </a:r>
          </a:p>
        </p:txBody>
      </p:sp>
      <p:sp>
        <p:nvSpPr>
          <p:cNvPr id="37" name="Content Placeholder 8">
            <a:extLst>
              <a:ext uri="{FF2B5EF4-FFF2-40B4-BE49-F238E27FC236}">
                <a16:creationId xmlns:a16="http://schemas.microsoft.com/office/drawing/2014/main" id="{97161D73-9AD7-6882-9A95-6281C16703A3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7724427" y="5038504"/>
            <a:ext cx="3600000" cy="1080001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800" b="0"/>
            </a:lvl1pPr>
            <a:lvl2pPr marL="133350" indent="-127000">
              <a:tabLst/>
              <a:defRPr sz="1500"/>
            </a:lvl2pPr>
            <a:lvl3pPr>
              <a:defRPr sz="1500"/>
            </a:lvl3pPr>
            <a:lvl4pPr>
              <a:defRPr sz="1500"/>
            </a:lvl4pPr>
            <a:lvl5pPr>
              <a:defRPr sz="150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  <a:endParaRPr lang="nb-NO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D6B9E7-B6FB-087E-FC82-BD56A087DB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2F09D-BC36-3D41-810D-4218B27E140A}" type="datetime1">
              <a:rPr lang="nb-NO" smtClean="0"/>
              <a:t>10.06.2026</a:t>
            </a:fld>
            <a:endParaRPr lang="nb-NO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8582882-1AFD-8368-DC25-8BE3A36837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5A7056-BE92-285B-A069-416591C481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165169574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 descr="Logo Helsedirektoratet">
            <a:extLst>
              <a:ext uri="{FF2B5EF4-FFF2-40B4-BE49-F238E27FC236}">
                <a16:creationId xmlns:a16="http://schemas.microsoft.com/office/drawing/2014/main" id="{8E204606-017A-D877-E2B6-991EDDD9F89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9343" cy="3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5220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 ENG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k 2">
            <a:extLst>
              <a:ext uri="{FF2B5EF4-FFF2-40B4-BE49-F238E27FC236}">
                <a16:creationId xmlns:a16="http://schemas.microsoft.com/office/drawing/2014/main" id="{4EDEB077-60A6-8E65-2A18-5B3E1471876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56329" y="3231000"/>
            <a:ext cx="3078000" cy="515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0471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image" Target="../media/image1.svg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ound Single Corner of Rectangle 10">
            <a:extLst>
              <a:ext uri="{FF2B5EF4-FFF2-40B4-BE49-F238E27FC236}">
                <a16:creationId xmlns:a16="http://schemas.microsoft.com/office/drawing/2014/main" id="{077A94D6-BECE-8552-A3E8-6334DF9FE3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6308725"/>
            <a:ext cx="12192000" cy="549275"/>
          </a:xfrm>
          <a:prstGeom prst="round1Rect">
            <a:avLst>
              <a:gd name="adj" fmla="val 41687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>
              <a:solidFill>
                <a:schemeClr val="tx1"/>
              </a:solidFill>
            </a:endParaRPr>
          </a:p>
        </p:txBody>
      </p:sp>
      <p:pic>
        <p:nvPicPr>
          <p:cNvPr id="8" name="Grafikk 7">
            <a:extLst>
              <a:ext uri="{FF2B5EF4-FFF2-40B4-BE49-F238E27FC236}">
                <a16:creationId xmlns:a16="http://schemas.microsoft.com/office/drawing/2014/main" id="{F321F365-1F59-1477-7A2C-4F42DECC6D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938" y="6486612"/>
            <a:ext cx="288000" cy="1935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296377E-9BCD-9C71-7D7B-E651B21FE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6" y="620713"/>
            <a:ext cx="9721850" cy="104457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nb-NO"/>
              <a:t>Klikk for å redigere tittelstil</a:t>
            </a:r>
            <a:endParaRPr lang="nb-NO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90BB8E-72F1-6DCB-E97A-20087088A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95326" y="1952625"/>
            <a:ext cx="9721850" cy="4163254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  <a:endParaRPr lang="nb-NO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BEE82-67D0-8500-8B50-44E3E88AC5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975725" y="6460962"/>
            <a:ext cx="144145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615CD096-5B77-454C-A5B6-D006E652560D}" type="datetime1">
              <a:rPr lang="nb-NO" smtClean="0"/>
              <a:pPr/>
              <a:t>10.06.2026</a:t>
            </a:fld>
            <a:endParaRPr lang="nb-NO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49AC1F-52BA-7486-B3F5-084EE7EC2F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55688" y="6460962"/>
            <a:ext cx="7200900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l">
              <a:defRPr sz="900">
                <a:solidFill>
                  <a:schemeClr val="tx1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endParaRPr lang="nb-NO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6D9266-D53E-DABB-1517-5C48E7C9A8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417174" y="6460962"/>
            <a:ext cx="1441449" cy="244800"/>
          </a:xfrm>
          <a:prstGeom prst="rect">
            <a:avLst/>
          </a:prstGeom>
        </p:spPr>
        <p:txBody>
          <a:bodyPr vert="horz" lIns="0" tIns="0" rIns="0" bIns="0" rtlCol="0" anchor="ctr" anchorCtr="0"/>
          <a:lstStyle>
            <a:lvl1pPr algn="r">
              <a:defRPr sz="900" b="1">
                <a:solidFill>
                  <a:schemeClr val="accent3"/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fld id="{341FD356-1CC0-514B-B5D9-F98600AAE6F5}" type="slidenum">
              <a:rPr lang="nb-NO" smtClean="0"/>
              <a:pPr/>
              <a:t>‹#›</a:t>
            </a:fld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6285448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727" r:id="rId2"/>
    <p:sldLayoutId id="2147483686" r:id="rId3"/>
    <p:sldLayoutId id="2147483723" r:id="rId4"/>
    <p:sldLayoutId id="2147483690" r:id="rId5"/>
    <p:sldLayoutId id="2147483722" r:id="rId6"/>
    <p:sldLayoutId id="2147483652" r:id="rId7"/>
    <p:sldLayoutId id="2147483653" r:id="rId8"/>
    <p:sldLayoutId id="2147483662" r:id="rId9"/>
    <p:sldLayoutId id="2147483663" r:id="rId10"/>
    <p:sldLayoutId id="2147483693" r:id="rId11"/>
    <p:sldLayoutId id="2147483726" r:id="rId12"/>
    <p:sldLayoutId id="2147483694" r:id="rId13"/>
    <p:sldLayoutId id="2147483696" r:id="rId14"/>
    <p:sldLayoutId id="2147483664" r:id="rId15"/>
    <p:sldLayoutId id="2147483673" r:id="rId16"/>
    <p:sldLayoutId id="2147483668" r:id="rId17"/>
    <p:sldLayoutId id="2147483724" r:id="rId18"/>
    <p:sldLayoutId id="2147483675" r:id="rId19"/>
    <p:sldLayoutId id="2147483676" r:id="rId20"/>
    <p:sldLayoutId id="2147483698" r:id="rId21"/>
    <p:sldLayoutId id="2147483699" r:id="rId22"/>
    <p:sldLayoutId id="2147483695" r:id="rId23"/>
    <p:sldLayoutId id="2147483725" r:id="rId24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 baseline="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Clr>
          <a:schemeClr val="accent3"/>
        </a:buClr>
        <a:buFont typeface="Arial" panose="020B0604020202020204" pitchFamily="34" charset="0"/>
        <a:buChar char="•"/>
        <a:defRPr sz="24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1pPr>
      <a:lvl2pPr marL="504000" indent="-2286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2pPr>
      <a:lvl3pPr marL="720000" indent="-22860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3pPr>
      <a:lvl4pPr marL="936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4pPr>
      <a:lvl5pPr marL="1152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90000"/>
              <a:lumOff val="10000"/>
            </a:schemeClr>
          </a:solidFill>
          <a:latin typeface="+mn-lt"/>
          <a:ea typeface="Roboto" panose="02000000000000000000" pitchFamily="2" charset="0"/>
          <a:cs typeface="Roboto" panose="02000000000000000000" pitchFamily="2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211" userDrawn="1">
          <p15:clr>
            <a:srgbClr val="F26B43"/>
          </p15:clr>
        </p15:guide>
        <p15:guide id="4" orient="horz" pos="3974" userDrawn="1">
          <p15:clr>
            <a:srgbClr val="F26B43"/>
          </p15:clr>
        </p15:guide>
        <p15:guide id="5" orient="horz" pos="1049" userDrawn="1">
          <p15:clr>
            <a:srgbClr val="F26B43"/>
          </p15:clr>
        </p15:guide>
        <p15:guide id="6" pos="7469" userDrawn="1">
          <p15:clr>
            <a:srgbClr val="F26B43"/>
          </p15:clr>
        </p15:guide>
        <p15:guide id="7" pos="1572" userDrawn="1">
          <p15:clr>
            <a:srgbClr val="F26B43"/>
          </p15:clr>
        </p15:guide>
        <p15:guide id="8" pos="5654" userDrawn="1">
          <p15:clr>
            <a:srgbClr val="F26B43"/>
          </p15:clr>
        </p15:guide>
        <p15:guide id="9" pos="1118" userDrawn="1">
          <p15:clr>
            <a:srgbClr val="9FCC3B"/>
          </p15:clr>
        </p15:guide>
        <p15:guide id="10" pos="3386" userDrawn="1">
          <p15:clr>
            <a:srgbClr val="F26B43"/>
          </p15:clr>
        </p15:guide>
        <p15:guide id="11" pos="6562" userDrawn="1">
          <p15:clr>
            <a:srgbClr val="9FCC3B"/>
          </p15:clr>
        </p15:guide>
        <p15:guide id="12" pos="4747" userDrawn="1">
          <p15:clr>
            <a:srgbClr val="F26B43"/>
          </p15:clr>
        </p15:guide>
        <p15:guide id="13" pos="665" userDrawn="1">
          <p15:clr>
            <a:srgbClr val="F26B43"/>
          </p15:clr>
        </p15:guide>
        <p15:guide id="14" pos="6992" userDrawn="1">
          <p15:clr>
            <a:srgbClr val="F26B43"/>
          </p15:clr>
        </p15:guide>
        <p15:guide id="15" pos="6108" userDrawn="1">
          <p15:clr>
            <a:srgbClr val="F26B43"/>
          </p15:clr>
        </p15:guide>
        <p15:guide id="16" pos="5201" userDrawn="1">
          <p15:clr>
            <a:srgbClr val="F26B43"/>
          </p15:clr>
        </p15:guide>
        <p15:guide id="17" pos="4294" userDrawn="1">
          <p15:clr>
            <a:srgbClr val="F26B43"/>
          </p15:clr>
        </p15:guide>
        <p15:guide id="18" pos="2933" userDrawn="1">
          <p15:clr>
            <a:srgbClr val="F26B43"/>
          </p15:clr>
        </p15:guide>
        <p15:guide id="19" pos="2479" userDrawn="1">
          <p15:clr>
            <a:srgbClr val="F26B43"/>
          </p15:clr>
        </p15:guide>
        <p15:guide id="20" pos="2026" userDrawn="1">
          <p15:clr>
            <a:srgbClr val="F26B43"/>
          </p15:clr>
        </p15:guide>
        <p15:guide id="21" pos="438" userDrawn="1">
          <p15:clr>
            <a:srgbClr val="F26B43"/>
          </p15:clr>
        </p15:guide>
        <p15:guide id="22" pos="7242" userDrawn="1">
          <p15:clr>
            <a:srgbClr val="F26B43"/>
          </p15:clr>
        </p15:guide>
        <p15:guide id="23" orient="horz" pos="210" userDrawn="1">
          <p15:clr>
            <a:srgbClr val="F26B43"/>
          </p15:clr>
        </p15:guide>
        <p15:guide id="24" orient="horz" pos="4110" userDrawn="1">
          <p15:clr>
            <a:srgbClr val="F26B43"/>
          </p15:clr>
        </p15:guide>
        <p15:guide id="25" orient="horz" pos="1230" userDrawn="1">
          <p15:clr>
            <a:srgbClr val="F26B43"/>
          </p15:clr>
        </p15:guide>
        <p15:guide id="26" orient="horz" pos="391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Aktørene i et IGOE-perspektiv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Hvilken rolle hver aktør spiller i de seks prosessene i verdikjeden for kunnskapsforvaltning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er IGOE?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700000"/>
            <a:ext cx="119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</a:rPr>
              <a:t>IGOE (Inputs, Guides, Outputs, Enablers) beskriver de grunnleggende komponentene i en prosess – en videreføring av IDEF0, tilpasset tjenestebaserte virksomheter.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1B5E20"/>
                </a:solidFill>
              </a:rPr>
              <a:t>I  </a:t>
            </a:r>
            <a:r>
              <a:rPr sz="1700" b="1" i="0">
                <a:solidFill>
                  <a:srgbClr val="1B5E20"/>
                </a:solidFill>
              </a:rPr>
              <a:t>Inputs – </a:t>
            </a:r>
            <a:r>
              <a:rPr sz="1700" b="0" i="0">
                <a:solidFill>
                  <a:srgbClr val="333333"/>
                </a:solidFill>
              </a:rPr>
              <a:t>Noe som transformeres eller forbrukes av prosessen. «Hva vi trenger.»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B74A00"/>
                </a:solidFill>
              </a:rPr>
              <a:t>G  </a:t>
            </a:r>
            <a:r>
              <a:rPr sz="1700" b="1" i="0">
                <a:solidFill>
                  <a:srgbClr val="B74A00"/>
                </a:solidFill>
              </a:rPr>
              <a:t>Guides – </a:t>
            </a:r>
            <a:r>
              <a:rPr sz="1700" b="0" i="0">
                <a:solidFill>
                  <a:srgbClr val="333333"/>
                </a:solidFill>
              </a:rPr>
              <a:t>Politikk, regelverk, metode og utløsende hendelser som styrer. «Hvorfor, når og hvordan.»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0D47A1"/>
                </a:solidFill>
              </a:rPr>
              <a:t>O  </a:t>
            </a:r>
            <a:r>
              <a:rPr sz="1700" b="1" i="0">
                <a:solidFill>
                  <a:srgbClr val="0D47A1"/>
                </a:solidFill>
              </a:rPr>
              <a:t>Outputs – </a:t>
            </a:r>
            <a:r>
              <a:rPr sz="1700" b="0" i="0">
                <a:solidFill>
                  <a:srgbClr val="333333"/>
                </a:solidFill>
              </a:rPr>
              <a:t>Resultatet av transformasjonen. «Hva vi produserer.»</a:t>
            </a:r>
          </a:p>
          <a:p>
            <a:pPr algn="l">
              <a:spcAft>
                <a:spcPts val="800"/>
              </a:spcAft>
            </a:pPr>
            <a:r>
              <a:rPr sz="1800" b="1" i="0">
                <a:solidFill>
                  <a:srgbClr val="6A1B9A"/>
                </a:solidFill>
              </a:rPr>
              <a:t>E  </a:t>
            </a:r>
            <a:r>
              <a:rPr sz="1700" b="1" i="0">
                <a:solidFill>
                  <a:srgbClr val="6A1B9A"/>
                </a:solidFill>
              </a:rPr>
              <a:t>Enablers – </a:t>
            </a:r>
            <a:r>
              <a:rPr sz="1700" b="0" i="0">
                <a:solidFill>
                  <a:srgbClr val="333333"/>
                </a:solidFill>
              </a:rPr>
              <a:t>Ressurser som muliggjør arbeidet uten selv å forbrukes. «Hvor, og med hva og hvem.»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333333"/>
                </a:solidFill>
              </a:rPr>
              <a:t>Viktig: Inputs endres av prosessen; guides og enablers endres ikke.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Slik leser du matrisen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700000"/>
            <a:ext cx="119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400"/>
              </a:spcAft>
            </a:pPr>
            <a:r>
              <a:rPr sz="1700" b="0" i="0">
                <a:solidFill>
                  <a:srgbClr val="333333"/>
                </a:solidFill>
              </a:rPr>
              <a:t>Aktører står som rader, de seks prosessene i verdikjeden som kolonner. Hver celle viser hvilken IGOE-rolle aktøren har i den prosessen.</a:t>
            </a:r>
          </a:p>
          <a:p>
            <a:pPr algn="l">
              <a:spcAft>
                <a:spcPts val="600"/>
              </a:spcAft>
            </a:pPr>
            <a:r>
              <a:rPr sz="1600" b="1" i="0">
                <a:solidFill>
                  <a:srgbClr val="333333"/>
                </a:solidFill>
              </a:rPr>
              <a:t>De seks prosessene (jf. delrapport 8 kap. 5.2):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P1  </a:t>
            </a:r>
            <a:r>
              <a:rPr sz="1600" b="0" i="0">
                <a:solidFill>
                  <a:srgbClr val="333333"/>
                </a:solidFill>
              </a:rPr>
              <a:t>Kunnskapsoppsummering (steg 2)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P2  </a:t>
            </a:r>
            <a:r>
              <a:rPr sz="1600" b="0" i="0">
                <a:solidFill>
                  <a:srgbClr val="333333"/>
                </a:solidFill>
              </a:rPr>
              <a:t>Retningslinjeutvikling (strøm 3a)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P3  </a:t>
            </a:r>
            <a:r>
              <a:rPr sz="1600" b="0" i="0">
                <a:solidFill>
                  <a:srgbClr val="333333"/>
                </a:solidFill>
              </a:rPr>
              <a:t>Implementering i helsetjenesten (strøm 3a)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P4  </a:t>
            </a:r>
            <a:r>
              <a:rPr sz="1600" b="0" i="0">
                <a:solidFill>
                  <a:srgbClr val="333333"/>
                </a:solidFill>
              </a:rPr>
              <a:t>Klinisk kunnskapssammenstilling (strøm 3b)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P5  </a:t>
            </a:r>
            <a:r>
              <a:rPr sz="1600" b="0" i="0">
                <a:solidFill>
                  <a:srgbClr val="333333"/>
                </a:solidFill>
              </a:rPr>
              <a:t>Legemiddelgodkjenning og -informasjon (strøm 3c)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003366"/>
                </a:solidFill>
              </a:rPr>
              <a:t>P6  </a:t>
            </a:r>
            <a:r>
              <a:rPr sz="1600" b="0" i="0">
                <a:solidFill>
                  <a:srgbClr val="333333"/>
                </a:solidFill>
              </a:rPr>
              <a:t>Innbyggerrettet formidling (strøm 3d)</a:t>
            </a:r>
          </a:p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333333"/>
                </a:solidFill>
              </a:rPr>
              <a:t>Tom celle = aktøren er ikke nevnt i den prosessen i kap. 5.2.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IGOE-matrise: aktør × prosess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780980"/>
              </p:ext>
            </p:extLst>
          </p:nvPr>
        </p:nvGraphicFramePr>
        <p:xfrm>
          <a:off x="359999" y="1299999"/>
          <a:ext cx="10900345" cy="69697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7514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72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72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72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372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3419">
                <a:tc>
                  <a:txBody>
                    <a:bodyPr/>
                    <a:lstStyle/>
                    <a:p>
                      <a:pPr algn="ctr"/>
                      <a:r>
                        <a:rPr sz="1300" b="1" dirty="0" err="1">
                          <a:solidFill>
                            <a:srgbClr val="FFFFFF"/>
                          </a:solidFill>
                        </a:rPr>
                        <a:t>Aktør</a:t>
                      </a:r>
                      <a:endParaRPr sz="1300" b="1" dirty="0">
                        <a:solidFill>
                          <a:srgbClr val="FFFFFF"/>
                        </a:solidFill>
                      </a:endParaRPr>
                    </a:p>
                  </a:txBody>
                  <a:tcPr marL="45000" marR="45000" marT="18000" marB="1800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P1</a:t>
                      </a:r>
                    </a:p>
                  </a:txBody>
                  <a:tcPr marL="45000" marR="45000" marT="18000" marB="1800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P2</a:t>
                      </a:r>
                    </a:p>
                  </a:txBody>
                  <a:tcPr marL="45000" marR="45000" marT="18000" marB="1800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P3</a:t>
                      </a:r>
                    </a:p>
                  </a:txBody>
                  <a:tcPr marL="45000" marR="45000" marT="18000" marB="18000" anchor="ctr"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</a:rPr>
                        <a:t>P4</a:t>
                      </a:r>
                    </a:p>
                  </a:txBody>
                  <a:tcPr marL="45000" marR="45000" marT="18000" marB="18000" anchor="ctr">
                    <a:solidFill>
                      <a:srgbClr val="0033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HOD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Stortinget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FHI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47A1"/>
                          </a:solidFill>
                        </a:rPr>
                        <a:t>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Helsedirektoratet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47A1"/>
                          </a:solidFill>
                        </a:rPr>
                        <a:t>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  <a:r>
                        <a:rPr sz="1200" b="1">
                          <a:solidFill>
                            <a:srgbClr val="B74A00"/>
                          </a:solidFill>
                        </a:rPr>
                        <a:t> G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8225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Helsebiblioteket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A1B9A"/>
                          </a:solidFill>
                        </a:rPr>
                        <a:t>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A1B9A"/>
                          </a:solidFill>
                        </a:rPr>
                        <a:t>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6A1B9A"/>
                          </a:solidFill>
                        </a:rPr>
                        <a:t>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0D47A1"/>
                          </a:solidFill>
                        </a:rPr>
                        <a:t>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RHF-ene / HF-ene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  <a:r>
                        <a:rPr sz="1200" b="1">
                          <a:solidFill>
                            <a:srgbClr val="0D47A1"/>
                          </a:solidFill>
                        </a:rPr>
                        <a:t> 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KS / kommunene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  <a:r>
                        <a:rPr sz="1200" b="1">
                          <a:solidFill>
                            <a:srgbClr val="0D47A1"/>
                          </a:solidFill>
                        </a:rPr>
                        <a:t> 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Fagmedisinske foreninger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  <a:r>
                        <a:rPr sz="1200" b="1">
                          <a:solidFill>
                            <a:srgbClr val="0D47A1"/>
                          </a:solidFill>
                        </a:rPr>
                        <a:t> 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Bruker-/pasientorganisasjoner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Internasj. forskning / Cochrane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 dirty="0">
                          <a:solidFill>
                            <a:srgbClr val="333333"/>
                          </a:solidFill>
                        </a:rPr>
                        <a:t>UpToDate / BMJ Best Practice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  <a:r>
                        <a:rPr sz="1200" b="1">
                          <a:solidFill>
                            <a:srgbClr val="0D47A1"/>
                          </a:solidFill>
                        </a:rPr>
                        <a:t> 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Tidsskriftet / Sykepleien Forskning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B74A00"/>
                          </a:solidFill>
                        </a:rPr>
                        <a:t>G</a:t>
                      </a:r>
                      <a:r>
                        <a:rPr sz="1200" b="1">
                          <a:solidFill>
                            <a:srgbClr val="0D47A1"/>
                          </a:solidFill>
                        </a:rPr>
                        <a:t> O</a:t>
                      </a:r>
                      <a:r>
                        <a:rPr sz="1200" b="1">
                          <a:solidFill>
                            <a:srgbClr val="6A1B9A"/>
                          </a:solidFill>
                        </a:rPr>
                        <a:t> E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Klinikere (internasjonalt)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B5E20"/>
                          </a:solidFill>
                        </a:rPr>
                        <a:t>I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Legemiddelselskaper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DMP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Felleskatalogen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RELIS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Helsepersonell / pasienter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helsenorge.no / NHN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FNSP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NHI.no</a:t>
                      </a:r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2F5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309391">
                <a:tc>
                  <a:txBody>
                    <a:bodyPr/>
                    <a:lstStyle/>
                    <a:p>
                      <a:pPr algn="l"/>
                      <a:r>
                        <a:rPr sz="1150" b="1">
                          <a:solidFill>
                            <a:srgbClr val="333333"/>
                          </a:solidFill>
                        </a:rPr>
                        <a:t>Medier / helsejournalistikk</a:t>
                      </a:r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45000" marR="45000" marT="18000" marB="18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59999" y="1066778"/>
            <a:ext cx="11472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1" dirty="0">
                <a:solidFill>
                  <a:srgbClr val="1B5E20"/>
                </a:solidFill>
              </a:rPr>
              <a:t>I=Input    </a:t>
            </a:r>
            <a:r>
              <a:rPr sz="1200" b="1" dirty="0">
                <a:solidFill>
                  <a:srgbClr val="B74A00"/>
                </a:solidFill>
              </a:rPr>
              <a:t>G=Guide    </a:t>
            </a:r>
            <a:r>
              <a:rPr sz="1200" b="1" dirty="0">
                <a:solidFill>
                  <a:srgbClr val="0D47A1"/>
                </a:solidFill>
              </a:rPr>
              <a:t>O=Output    </a:t>
            </a:r>
            <a:r>
              <a:rPr sz="1200" b="1" dirty="0">
                <a:solidFill>
                  <a:srgbClr val="6A1B9A"/>
                </a:solidFill>
              </a:rPr>
              <a:t>E=Enabler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Hva matrisen viser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550000"/>
            <a:ext cx="11900000" cy="5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3366"/>
                </a:solidFill>
              </a:rPr>
              <a:t>HOD og Stortinget styrer, men transformerer ingenting.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</a:rPr>
              <a:t>De opptrer kun som guide-settere (G) – aldri I, O eller E.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3366"/>
                </a:solidFill>
              </a:rPr>
              <a:t>FHI og Helsedirektoratet har bredest fotavtrykk og veksler rolle.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</a:rPr>
              <a:t>FHI er output-produsent i P1, men kun input-leverandør i P2 – det er Hdir som lager det normerende produktet.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3366"/>
                </a:solidFill>
              </a:rPr>
              <a:t>Helsebiblioteket er enabler i fire prosesser (P1–P4) uten egen output.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</a:rPr>
              <a:t>En sårbarhet: kuttene i 2023 (Cochrane Library, Embase) rammet store deler av verdikjeden samtidig.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3366"/>
                </a:solidFill>
              </a:rPr>
              <a:t>RHF/HF og KS/kommune er I+O+E i samme prosess (P3).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</a:rPr>
              <a:t>De både mottar, transformerer og muliggjør implementeringen – med tydelig enabler-asymmetri mot primærhelsetjenesten.</a:t>
            </a:r>
          </a:p>
          <a:p>
            <a:pPr algn="l">
              <a:spcAft>
                <a:spcPts val="200"/>
              </a:spcAft>
            </a:pPr>
            <a:r>
              <a:rPr sz="1600" b="1" i="0">
                <a:solidFill>
                  <a:srgbClr val="003366"/>
                </a:solidFill>
              </a:rPr>
              <a:t>P6 har flest output-produsenter, men sprikende guides.</a:t>
            </a:r>
          </a:p>
          <a:p>
            <a:pPr algn="l">
              <a:spcAft>
                <a:spcPts val="1200"/>
              </a:spcAft>
            </a:pPr>
            <a:r>
              <a:rPr sz="1400" b="0" i="0">
                <a:solidFill>
                  <a:srgbClr val="333333"/>
                </a:solidFill>
              </a:rPr>
              <a:t>Hdir-utgiveransvar vs. PFUs Vær Varsom vs. organisasjonenes vedtekter – ingen innebygd konsistensmekanisme.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Kilde og forbehold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00000" y="1700000"/>
            <a:ext cx="11900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3366"/>
                </a:solidFill>
              </a:rPr>
              <a:t>Kildegrunnlag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333333"/>
                </a:solidFill>
              </a:rPr>
              <a:t>Matrisen er utledet av delrapport 8 – Aktøranalyse (aktoeranalyse.md), kap. 5.2 (IGOE per prosess) og kap. 5.3 (observasjoner). Rollene er invertert fra prosess-perspektiv til aktør-perspektiv.</a:t>
            </a:r>
          </a:p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003366"/>
                </a:solidFill>
              </a:rPr>
              <a:t>Forbehold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</a:rPr>
              <a:t>• IGOE er et prosessrammeverk. Matrisen er en analytisk lins som viser aktørenes roller, ikke et nytt empirisk funn.</a:t>
            </a:r>
          </a:p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333333"/>
                </a:solidFill>
              </a:rPr>
              <a:t>• Tomme celler betyr «ikke nevnt i kap. 5.2», ikke nødvendigvis «ingen rolle».</a:t>
            </a:r>
          </a:p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333333"/>
                </a:solidFill>
              </a:rPr>
              <a:t>• EMA er omtalt som del av DMPs rammeverk i dp8 og har ingen egen kildeforankret aktørprofil.</a:t>
            </a:r>
          </a:p>
          <a:p>
            <a:pPr algn="l">
              <a:spcAft>
                <a:spcPts val="0"/>
              </a:spcAft>
            </a:pPr>
            <a:r>
              <a:rPr sz="1300" b="0" i="1">
                <a:solidFill>
                  <a:srgbClr val="333333"/>
                </a:solidFill>
              </a:rPr>
              <a:t>Delrapport 8 har status: Forankret.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lsedir 2024">
  <a:themeElements>
    <a:clrScheme name="Hdir-2024">
      <a:dk1>
        <a:srgbClr val="202020"/>
      </a:dk1>
      <a:lt1>
        <a:srgbClr val="FFFFFF"/>
      </a:lt1>
      <a:dk2>
        <a:srgbClr val="504F4F"/>
      </a:dk2>
      <a:lt2>
        <a:srgbClr val="F0F5FF"/>
      </a:lt2>
      <a:accent1>
        <a:srgbClr val="025069"/>
      </a:accent1>
      <a:accent2>
        <a:srgbClr val="037FA2"/>
      </a:accent2>
      <a:accent3>
        <a:srgbClr val="0069E7"/>
      </a:accent3>
      <a:accent4>
        <a:srgbClr val="7C145C"/>
      </a:accent4>
      <a:accent5>
        <a:srgbClr val="366558"/>
      </a:accent5>
      <a:accent6>
        <a:srgbClr val="94DBC9"/>
      </a:accent6>
      <a:hlink>
        <a:srgbClr val="0069E7"/>
      </a:hlink>
      <a:folHlink>
        <a:srgbClr val="0069E7"/>
      </a:folHlink>
    </a:clrScheme>
    <a:fontScheme name="Test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200" dirty="0" err="1" smtClean="0">
            <a:latin typeface="Roboto" panose="02000000000000000000" pitchFamily="2" charset="0"/>
            <a:ea typeface="Roboto" panose="02000000000000000000" pitchFamily="2" charset="0"/>
            <a:cs typeface="Roboto" panose="02000000000000000000" pitchFamily="2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owerpointmal_NY versjon[67]  -  Skrivebeskyttet" id="{E5D2225B-CF60-724E-8634-BB3EBE7027E6}" vid="{44B68484-C258-6D40-9A3E-4450326D50D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063c122-4bbe-4826-b48d-9d0fb0a65790">
      <Terms xmlns="http://schemas.microsoft.com/office/infopath/2007/PartnerControls"/>
    </lcf76f155ced4ddcb4097134ff3c332f>
    <TaxCatchAll xmlns="6f2d6c3d-a81e-4dca-8790-2d5b1d74c7c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51D05E13A0CAE4FAEB0483BDB291AAE" ma:contentTypeVersion="10" ma:contentTypeDescription="Create a new document." ma:contentTypeScope="" ma:versionID="79aea1d05ac3e5b98de28b9e06920632">
  <xsd:schema xmlns:xsd="http://www.w3.org/2001/XMLSchema" xmlns:xs="http://www.w3.org/2001/XMLSchema" xmlns:p="http://schemas.microsoft.com/office/2006/metadata/properties" xmlns:ns2="1063c122-4bbe-4826-b48d-9d0fb0a65790" xmlns:ns3="6f2d6c3d-a81e-4dca-8790-2d5b1d74c7c5" targetNamespace="http://schemas.microsoft.com/office/2006/metadata/properties" ma:root="true" ma:fieldsID="41760dbbac4dbb66fef1edba5d3279e3" ns2:_="" ns3:_="">
    <xsd:import namespace="1063c122-4bbe-4826-b48d-9d0fb0a65790"/>
    <xsd:import namespace="6f2d6c3d-a81e-4dca-8790-2d5b1d74c7c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63c122-4bbe-4826-b48d-9d0fb0a6579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44bd27e2-62de-4af1-85f7-19d8bf2bfc5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2d6c3d-a81e-4dca-8790-2d5b1d74c7c5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9604ea7e-7ecf-4376-a85b-280f98472f3a}" ma:internalName="TaxCatchAll" ma:showField="CatchAllData" ma:web="6f2d6c3d-a81e-4dca-8790-2d5b1d74c7c5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58C70EF-4204-48CC-9705-9783C12D26A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3DE6656-7D40-49FF-8310-EF271454CE17}">
  <ds:schemaRefs>
    <ds:schemaRef ds:uri="http://purl.org/dc/terms/"/>
    <ds:schemaRef ds:uri="http://www.w3.org/XML/1998/namespace"/>
    <ds:schemaRef ds:uri="http://purl.org/dc/elements/1.1/"/>
    <ds:schemaRef ds:uri="http://purl.org/dc/dcmitype/"/>
    <ds:schemaRef ds:uri="http://schemas.microsoft.com/office/2006/documentManagement/types"/>
    <ds:schemaRef ds:uri="http://schemas.microsoft.com/office/2006/metadata/properties"/>
    <ds:schemaRef ds:uri="6f2d6c3d-a81e-4dca-8790-2d5b1d74c7c5"/>
    <ds:schemaRef ds:uri="http://schemas.microsoft.com/office/infopath/2007/PartnerControls"/>
    <ds:schemaRef ds:uri="http://schemas.openxmlformats.org/package/2006/metadata/core-properties"/>
    <ds:schemaRef ds:uri="1063c122-4bbe-4826-b48d-9d0fb0a65790"/>
  </ds:schemaRefs>
</ds:datastoreItem>
</file>

<file path=customXml/itemProps3.xml><?xml version="1.0" encoding="utf-8"?>
<ds:datastoreItem xmlns:ds="http://schemas.openxmlformats.org/officeDocument/2006/customXml" ds:itemID="{B49D9611-2DBE-4E35-AB52-031C4A3BD95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63c122-4bbe-4826-b48d-9d0fb0a65790"/>
    <ds:schemaRef ds:uri="6f2d6c3d-a81e-4dca-8790-2d5b1d74c7c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6ba1bd5c-750f-4ad6-aba3-0f95585bc21f}" enabled="0" method="" siteId="{6ba1bd5c-750f-4ad6-aba3-0f95585bc21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Helsedir 2024</Template>
  <TotalTime>16</TotalTime>
  <Words>602</Words>
  <Application>Microsoft Macintosh PowerPoint</Application>
  <PresentationFormat>Widescreen</PresentationFormat>
  <Paragraphs>93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Roboto</vt:lpstr>
      <vt:lpstr>Roboto Light</vt:lpstr>
      <vt:lpstr>Helsedir 2024</vt:lpstr>
      <vt:lpstr>Aktørene i et IGOE-perspektiv</vt:lpstr>
      <vt:lpstr>Hva er IGOE?</vt:lpstr>
      <vt:lpstr>Slik leser du matrisen</vt:lpstr>
      <vt:lpstr>IGOE-matrise: aktør × prosess</vt:lpstr>
      <vt:lpstr>Hva matrisen viser</vt:lpstr>
      <vt:lpstr>Kilde og forbehold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GEIR KRISTIAN HANSEN</dc:creator>
  <cp:lastModifiedBy>GEIR KRISTIAN HANSEN</cp:lastModifiedBy>
  <cp:revision>1</cp:revision>
  <dcterms:created xsi:type="dcterms:W3CDTF">2026-04-27T08:56:23Z</dcterms:created>
  <dcterms:modified xsi:type="dcterms:W3CDTF">2026-06-10T12:21:33Z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0x010100751D05E13A0CAE4FAEB0483BDB291AAE</vt:lpwstr>
  </property>
  <property fmtid="{D5CDD505-2E9C-101B-9397-08002B2CF9AE}" pid="3" name="MediaServiceImageTags">
    <vt:lpwstr/>
  </property>
</Properties>
</file>